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2" r:id="rId25"/>
    <p:sldId id="279" r:id="rId26"/>
    <p:sldId id="283" r:id="rId27"/>
    <p:sldId id="280" r:id="rId28"/>
    <p:sldId id="281" r:id="rId29"/>
    <p:sldId id="284" r:id="rId30"/>
    <p:sldId id="285" r:id="rId31"/>
    <p:sldId id="286" r:id="rId32"/>
    <p:sldId id="287" r:id="rId33"/>
    <p:sldId id="288" r:id="rId34"/>
    <p:sldId id="290" r:id="rId35"/>
    <p:sldId id="289" r:id="rId36"/>
    <p:sldId id="291" r:id="rId37"/>
    <p:sldId id="292" r:id="rId38"/>
    <p:sldId id="293" r:id="rId39"/>
    <p:sldId id="294" r:id="rId40"/>
    <p:sldId id="295" r:id="rId41"/>
    <p:sldId id="296" r:id="rId42"/>
    <p:sldId id="297" r:id="rId43"/>
    <p:sldId id="29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1" autoAdjust="0"/>
    <p:restoredTop sz="94660"/>
  </p:normalViewPr>
  <p:slideViewPr>
    <p:cSldViewPr snapToGrid="0">
      <p:cViewPr varScale="1">
        <p:scale>
          <a:sx n="84" d="100"/>
          <a:sy n="84" d="100"/>
        </p:scale>
        <p:origin x="1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192000" cy="6858000"/>
          </a:xfrm>
          <a:prstGeom prst="rect">
            <a:avLst/>
          </a:prstGeom>
          <a:noFill/>
          <a:ln w="9525">
            <a:noFill/>
          </a:ln>
        </p:spPr>
      </p:pic>
      <p:sp>
        <p:nvSpPr>
          <p:cNvPr id="2051" name="Rectangle 3"/>
          <p:cNvSpPr>
            <a:spLocks noGrp="1" noChangeArrowheads="1"/>
          </p:cNvSpPr>
          <p:nvPr>
            <p:ph type="ctrTitle"/>
          </p:nvPr>
        </p:nvSpPr>
        <p:spPr>
          <a:xfrm>
            <a:off x="2063751" y="1701800"/>
            <a:ext cx="9211733" cy="1082675"/>
          </a:xfrm>
        </p:spPr>
        <p:txBody>
          <a:bodyPr/>
          <a:lstStyle>
            <a:lvl1pPr algn="r">
              <a:defRPr/>
            </a:lvl1pPr>
          </a:lstStyle>
          <a:p>
            <a:pPr lvl="0"/>
            <a:r>
              <a:rPr lang="en-US" altLang="zh-CN" noProof="0"/>
              <a:t>Click to edit Master title style</a:t>
            </a:r>
          </a:p>
        </p:txBody>
      </p:sp>
      <p:sp>
        <p:nvSpPr>
          <p:cNvPr id="2052" name="Rectangle 4"/>
          <p:cNvSpPr>
            <a:spLocks noGrp="1" noChangeArrowheads="1"/>
          </p:cNvSpPr>
          <p:nvPr>
            <p:ph type="subTitle" idx="1"/>
          </p:nvPr>
        </p:nvSpPr>
        <p:spPr>
          <a:xfrm>
            <a:off x="2063751" y="2927350"/>
            <a:ext cx="9218083" cy="1752600"/>
          </a:xfrm>
        </p:spPr>
        <p:txBody>
          <a:bodyPr/>
          <a:lstStyle>
            <a:lvl1pPr marL="0" indent="0" algn="r">
              <a:buFontTx/>
              <a:buNone/>
              <a:defRPr/>
            </a:lvl1pPr>
          </a:lstStyle>
          <a:p>
            <a:pPr lvl="0"/>
            <a:r>
              <a:rPr lang="en-US" altLang="zh-CN" noProof="0"/>
              <a:t>Click to edit Master subtitle style</a:t>
            </a:r>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t>11/11/2024</a:t>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174750"/>
            <a:ext cx="5384800" cy="4953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317" y="2505075"/>
            <a:ext cx="51583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71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3"/>
          <p:cNvPicPr>
            <a:picLocks noChangeAspect="1"/>
          </p:cNvPicPr>
          <p:nvPr/>
        </p:nvPicPr>
        <p:blipFill>
          <a:blip r:embed="rId13"/>
          <a:stretch>
            <a:fillRect/>
          </a:stretch>
        </p:blipFill>
        <p:spPr>
          <a:xfrm>
            <a:off x="-8467" y="0"/>
            <a:ext cx="12200467"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t>11/11/2024</a:t>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itchFamily="2" charset="-122"/>
        </a:defRPr>
      </a:lvl2pPr>
      <a:lvl3pPr algn="l" rtl="0" fontAlgn="base">
        <a:spcBef>
          <a:spcPct val="0"/>
        </a:spcBef>
        <a:spcAft>
          <a:spcPct val="0"/>
        </a:spcAft>
        <a:defRPr sz="3600">
          <a:solidFill>
            <a:schemeClr val="tx1"/>
          </a:solidFill>
          <a:latin typeface="Arial" panose="020B0604020202020204" pitchFamily="34" charset="0"/>
          <a:ea typeface="SimSun" pitchFamily="2" charset="-122"/>
        </a:defRPr>
      </a:lvl3pPr>
      <a:lvl4pPr algn="l" rtl="0" fontAlgn="base">
        <a:spcBef>
          <a:spcPct val="0"/>
        </a:spcBef>
        <a:spcAft>
          <a:spcPct val="0"/>
        </a:spcAft>
        <a:defRPr sz="3600">
          <a:solidFill>
            <a:schemeClr val="tx1"/>
          </a:solidFill>
          <a:latin typeface="Arial" panose="020B0604020202020204" pitchFamily="34" charset="0"/>
          <a:ea typeface="SimSun" pitchFamily="2" charset="-122"/>
        </a:defRPr>
      </a:lvl4pPr>
      <a:lvl5pPr algn="l" rtl="0" fontAlgn="base">
        <a:spcBef>
          <a:spcPct val="0"/>
        </a:spcBef>
        <a:spcAft>
          <a:spcPct val="0"/>
        </a:spcAft>
        <a:defRPr sz="3600">
          <a:solidFill>
            <a:schemeClr val="tx1"/>
          </a:solidFill>
          <a:latin typeface="Arial" panose="020B0604020202020204" pitchFamily="34" charset="0"/>
          <a:ea typeface="SimSun"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8800" b="1" dirty="0">
                <a:solidFill>
                  <a:srgbClr val="FF0000"/>
                </a:solidFill>
                <a:latin typeface="Arial Bold" panose="020B0604020202020204" charset="0"/>
                <a:cs typeface="Arial Bold" panose="020B0604020202020204" charset="0"/>
              </a:rPr>
              <a:t>Unit 6</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890" y="0"/>
            <a:ext cx="10619509" cy="773113"/>
          </a:xfrm>
        </p:spPr>
        <p:txBody>
          <a:bodyPr/>
          <a:lstStyle/>
          <a:p>
            <a:pPr algn="ctr"/>
            <a:r>
              <a:rPr lang="en-US" b="1" dirty="0">
                <a:solidFill>
                  <a:srgbClr val="FF0000"/>
                </a:solidFill>
                <a:latin typeface="Arial Bold" panose="020B0604020202020204" charset="0"/>
                <a:cs typeface="Arial Bold" panose="020B0604020202020204" charset="0"/>
              </a:rPr>
              <a:t>Redux 	</a:t>
            </a:r>
          </a:p>
        </p:txBody>
      </p:sp>
      <p:sp>
        <p:nvSpPr>
          <p:cNvPr id="3" name="Content Placeholder 2"/>
          <p:cNvSpPr>
            <a:spLocks noGrp="1"/>
          </p:cNvSpPr>
          <p:nvPr>
            <p:ph idx="1"/>
          </p:nvPr>
        </p:nvSpPr>
        <p:spPr>
          <a:xfrm>
            <a:off x="207818" y="1101437"/>
            <a:ext cx="11263745" cy="5448877"/>
          </a:xfrm>
        </p:spPr>
        <p:txBody>
          <a:bodyPr/>
          <a:lstStyle/>
          <a:p>
            <a:pPr marL="0" indent="0" algn="just">
              <a:buNone/>
            </a:pPr>
            <a:endParaRPr lang="en-US" sz="2400" dirty="0"/>
          </a:p>
          <a:p>
            <a:pPr algn="just"/>
            <a:r>
              <a:rPr lang="en-US" sz="2400" dirty="0"/>
              <a:t>Redux is a predictable state management library for JavaScript applications, commonly used with libraries like React. </a:t>
            </a:r>
          </a:p>
          <a:p>
            <a:pPr algn="just"/>
            <a:r>
              <a:rPr lang="en-US" sz="2400" dirty="0"/>
              <a:t>It provides a way to manage the application state in a centralized store, allowing for better debugging, state persistence, and easier testing. </a:t>
            </a:r>
          </a:p>
          <a:p>
            <a:pPr algn="just"/>
            <a:r>
              <a:rPr lang="en-US" sz="2400" dirty="0"/>
              <a:t>Here are the fundamental concepts of Redux:</a:t>
            </a:r>
          </a:p>
          <a:p>
            <a:pPr algn="just"/>
            <a:endParaRPr lang="en-US" sz="2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Arial Bold" panose="020B0604020202020204" charset="0"/>
                <a:cs typeface="Arial Bold" panose="020B0604020202020204" charset="0"/>
              </a:rPr>
              <a:t>1. Store</a:t>
            </a:r>
          </a:p>
        </p:txBody>
      </p:sp>
      <p:sp>
        <p:nvSpPr>
          <p:cNvPr id="3" name="Content Placeholder 2"/>
          <p:cNvSpPr>
            <a:spLocks noGrp="1"/>
          </p:cNvSpPr>
          <p:nvPr>
            <p:ph idx="1"/>
          </p:nvPr>
        </p:nvSpPr>
        <p:spPr>
          <a:xfrm>
            <a:off x="367145" y="969818"/>
            <a:ext cx="11215255" cy="5157932"/>
          </a:xfrm>
        </p:spPr>
        <p:txBody>
          <a:bodyPr/>
          <a:lstStyle/>
          <a:p>
            <a:r>
              <a:rPr lang="en-US" dirty="0"/>
              <a:t>The </a:t>
            </a:r>
            <a:r>
              <a:rPr lang="en-US" dirty="0">
                <a:solidFill>
                  <a:srgbClr val="FF0000"/>
                </a:solidFill>
              </a:rPr>
              <a:t>Store is a central place </a:t>
            </a:r>
            <a:r>
              <a:rPr lang="en-US" dirty="0"/>
              <a:t>where the entire state of the application is kept. </a:t>
            </a:r>
          </a:p>
          <a:p>
            <a:r>
              <a:rPr lang="en-US" dirty="0"/>
              <a:t>There is a </a:t>
            </a:r>
            <a:r>
              <a:rPr lang="en-US" dirty="0">
                <a:solidFill>
                  <a:srgbClr val="FF0000"/>
                </a:solidFill>
              </a:rPr>
              <a:t>single store in a Redux application.</a:t>
            </a:r>
          </a:p>
          <a:p>
            <a:r>
              <a:rPr lang="en-US" dirty="0"/>
              <a:t>The store holds </a:t>
            </a:r>
            <a:r>
              <a:rPr lang="en-US" dirty="0">
                <a:solidFill>
                  <a:srgbClr val="FF0000"/>
                </a:solidFill>
              </a:rPr>
              <a:t>the current state and provides methods to access and update that state.</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5BFCB-58CE-3827-059E-E5CAAFED5BE2}"/>
              </a:ext>
            </a:extLst>
          </p:cNvPr>
          <p:cNvSpPr>
            <a:spLocks noGrp="1"/>
          </p:cNvSpPr>
          <p:nvPr>
            <p:ph type="title"/>
          </p:nvPr>
        </p:nvSpPr>
        <p:spPr/>
        <p:txBody>
          <a:bodyPr/>
          <a:lstStyle/>
          <a:p>
            <a:r>
              <a:rPr lang="en-IN" dirty="0"/>
              <a:t>2. </a:t>
            </a:r>
            <a:r>
              <a:rPr lang="en-IN" b="1" dirty="0"/>
              <a:t>Actions</a:t>
            </a:r>
            <a:endParaRPr lang="en-IN" dirty="0"/>
          </a:p>
        </p:txBody>
      </p:sp>
      <p:sp>
        <p:nvSpPr>
          <p:cNvPr id="3" name="Content Placeholder 2">
            <a:extLst>
              <a:ext uri="{FF2B5EF4-FFF2-40B4-BE49-F238E27FC236}">
                <a16:creationId xmlns:a16="http://schemas.microsoft.com/office/drawing/2014/main" id="{2D1E1C0B-7AF7-B789-AC34-A4D0A7867F2B}"/>
              </a:ext>
            </a:extLst>
          </p:cNvPr>
          <p:cNvSpPr>
            <a:spLocks noGrp="1"/>
          </p:cNvSpPr>
          <p:nvPr>
            <p:ph idx="1"/>
          </p:nvPr>
        </p:nvSpPr>
        <p:spPr/>
        <p:txBody>
          <a:bodyPr/>
          <a:lstStyle/>
          <a:p>
            <a:r>
              <a:rPr lang="en-US" dirty="0"/>
              <a:t>Actions are plain JavaScript objects that </a:t>
            </a:r>
            <a:r>
              <a:rPr lang="en-US" dirty="0">
                <a:solidFill>
                  <a:srgbClr val="FF0000"/>
                </a:solidFill>
              </a:rPr>
              <a:t>describe an event that has occurred in the application.</a:t>
            </a:r>
            <a:r>
              <a:rPr lang="en-US" dirty="0"/>
              <a:t> </a:t>
            </a:r>
          </a:p>
          <a:p>
            <a:r>
              <a:rPr lang="en-US" dirty="0"/>
              <a:t>They typically have a type property that indicates the action type, and they </a:t>
            </a:r>
            <a:r>
              <a:rPr lang="en-US" dirty="0">
                <a:solidFill>
                  <a:srgbClr val="FF0000"/>
                </a:solidFill>
              </a:rPr>
              <a:t>can optionally include a payload with additional data.</a:t>
            </a:r>
            <a:endParaRPr lang="en-IN" dirty="0">
              <a:solidFill>
                <a:srgbClr val="FF0000"/>
              </a:solidFill>
            </a:endParaRPr>
          </a:p>
        </p:txBody>
      </p:sp>
    </p:spTree>
    <p:extLst>
      <p:ext uri="{BB962C8B-B14F-4D97-AF65-F5344CB8AC3E}">
        <p14:creationId xmlns:p14="http://schemas.microsoft.com/office/powerpoint/2010/main" val="35703955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5DB00-F113-E45A-4D03-63283EECE9CB}"/>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815EC1D0-D0CF-1014-BDDF-E85E29FD9C36}"/>
              </a:ext>
            </a:extLst>
          </p:cNvPr>
          <p:cNvSpPr>
            <a:spLocks noGrp="1"/>
          </p:cNvSpPr>
          <p:nvPr>
            <p:ph idx="1"/>
          </p:nvPr>
        </p:nvSpPr>
        <p:spPr/>
        <p:txBody>
          <a:bodyPr/>
          <a:lstStyle/>
          <a:p>
            <a:pPr marL="0" indent="0">
              <a:buNone/>
            </a:pPr>
            <a:r>
              <a:rPr lang="en-IN" dirty="0" err="1"/>
              <a:t>const</a:t>
            </a:r>
            <a:r>
              <a:rPr lang="en-IN" dirty="0"/>
              <a:t> ADD_TODO = 'ADD_TODO';</a:t>
            </a:r>
          </a:p>
          <a:p>
            <a:endParaRPr lang="en-IN" dirty="0"/>
          </a:p>
          <a:p>
            <a:pPr marL="0" indent="0">
              <a:buNone/>
            </a:pPr>
            <a:r>
              <a:rPr lang="en-IN" dirty="0" err="1"/>
              <a:t>const</a:t>
            </a:r>
            <a:r>
              <a:rPr lang="en-IN" dirty="0"/>
              <a:t> </a:t>
            </a:r>
            <a:r>
              <a:rPr lang="en-IN" dirty="0" err="1"/>
              <a:t>addTodo</a:t>
            </a:r>
            <a:r>
              <a:rPr lang="en-IN" dirty="0"/>
              <a:t> = (text) =&gt; ({</a:t>
            </a:r>
          </a:p>
          <a:p>
            <a:pPr marL="0" indent="0">
              <a:buNone/>
            </a:pPr>
            <a:r>
              <a:rPr lang="en-IN" dirty="0"/>
              <a:t> type: ADD_TODO,</a:t>
            </a:r>
          </a:p>
          <a:p>
            <a:pPr marL="0" indent="0">
              <a:buNone/>
            </a:pPr>
            <a:r>
              <a:rPr lang="en-IN" dirty="0"/>
              <a:t>payload: text,</a:t>
            </a:r>
          </a:p>
          <a:p>
            <a:pPr marL="0" indent="0">
              <a:buNone/>
            </a:pPr>
            <a:r>
              <a:rPr lang="en-IN" dirty="0"/>
              <a:t>});</a:t>
            </a:r>
          </a:p>
          <a:p>
            <a:endParaRPr lang="en-IN" dirty="0"/>
          </a:p>
        </p:txBody>
      </p:sp>
    </p:spTree>
    <p:extLst>
      <p:ext uri="{BB962C8B-B14F-4D97-AF65-F5344CB8AC3E}">
        <p14:creationId xmlns:p14="http://schemas.microsoft.com/office/powerpoint/2010/main" val="4056041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72B2E-9973-5E83-6095-9C0C4F98CB29}"/>
              </a:ext>
            </a:extLst>
          </p:cNvPr>
          <p:cNvSpPr>
            <a:spLocks noGrp="1"/>
          </p:cNvSpPr>
          <p:nvPr>
            <p:ph type="title"/>
          </p:nvPr>
        </p:nvSpPr>
        <p:spPr/>
        <p:txBody>
          <a:bodyPr/>
          <a:lstStyle/>
          <a:p>
            <a:r>
              <a:rPr lang="en-IN" dirty="0"/>
              <a:t>3. </a:t>
            </a:r>
            <a:r>
              <a:rPr lang="en-IN" b="1" dirty="0"/>
              <a:t>Reducers</a:t>
            </a:r>
            <a:endParaRPr lang="en-IN" dirty="0"/>
          </a:p>
        </p:txBody>
      </p:sp>
      <p:sp>
        <p:nvSpPr>
          <p:cNvPr id="3" name="Content Placeholder 2">
            <a:extLst>
              <a:ext uri="{FF2B5EF4-FFF2-40B4-BE49-F238E27FC236}">
                <a16:creationId xmlns:a16="http://schemas.microsoft.com/office/drawing/2014/main" id="{569FFBB9-9F51-A602-AEB5-BC01BAC5305F}"/>
              </a:ext>
            </a:extLst>
          </p:cNvPr>
          <p:cNvSpPr>
            <a:spLocks noGrp="1"/>
          </p:cNvSpPr>
          <p:nvPr>
            <p:ph idx="1"/>
          </p:nvPr>
        </p:nvSpPr>
        <p:spPr/>
        <p:txBody>
          <a:bodyPr/>
          <a:lstStyle/>
          <a:p>
            <a:r>
              <a:rPr lang="en-US" dirty="0"/>
              <a:t>Reducers are </a:t>
            </a:r>
            <a:r>
              <a:rPr lang="en-US" dirty="0">
                <a:highlight>
                  <a:srgbClr val="FFFF00"/>
                </a:highlight>
              </a:rPr>
              <a:t>pure functions </a:t>
            </a:r>
            <a:r>
              <a:rPr lang="en-US" dirty="0"/>
              <a:t>that </a:t>
            </a:r>
            <a:r>
              <a:rPr lang="en-US" dirty="0">
                <a:solidFill>
                  <a:srgbClr val="FF0000"/>
                </a:solidFill>
              </a:rPr>
              <a:t>specify how the state should change in response to an action. </a:t>
            </a:r>
          </a:p>
          <a:p>
            <a:r>
              <a:rPr lang="en-US" dirty="0"/>
              <a:t>They take </a:t>
            </a:r>
            <a:r>
              <a:rPr lang="en-US" dirty="0">
                <a:solidFill>
                  <a:srgbClr val="FF0000"/>
                </a:solidFill>
              </a:rPr>
              <a:t>the current state </a:t>
            </a:r>
            <a:r>
              <a:rPr lang="en-US" dirty="0"/>
              <a:t>and an action as arguments and </a:t>
            </a:r>
            <a:r>
              <a:rPr lang="en-US" dirty="0">
                <a:solidFill>
                  <a:srgbClr val="FF0000"/>
                </a:solidFill>
              </a:rPr>
              <a:t>return the new state.</a:t>
            </a:r>
            <a:endParaRPr lang="en-IN" dirty="0">
              <a:solidFill>
                <a:srgbClr val="FF0000"/>
              </a:solidFill>
            </a:endParaRPr>
          </a:p>
        </p:txBody>
      </p:sp>
    </p:spTree>
    <p:extLst>
      <p:ext uri="{BB962C8B-B14F-4D97-AF65-F5344CB8AC3E}">
        <p14:creationId xmlns:p14="http://schemas.microsoft.com/office/powerpoint/2010/main" val="14882008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46840-8CAC-977E-5810-A6FE79378523}"/>
              </a:ext>
            </a:extLst>
          </p:cNvPr>
          <p:cNvSpPr>
            <a:spLocks noGrp="1"/>
          </p:cNvSpPr>
          <p:nvPr>
            <p:ph type="title"/>
          </p:nvPr>
        </p:nvSpPr>
        <p:spPr/>
        <p:txBody>
          <a:bodyPr/>
          <a:lstStyle/>
          <a:p>
            <a:r>
              <a:rPr lang="en-IN" dirty="0"/>
              <a:t>Example of Reducer</a:t>
            </a:r>
          </a:p>
        </p:txBody>
      </p:sp>
      <p:sp>
        <p:nvSpPr>
          <p:cNvPr id="3" name="Content Placeholder 2">
            <a:extLst>
              <a:ext uri="{FF2B5EF4-FFF2-40B4-BE49-F238E27FC236}">
                <a16:creationId xmlns:a16="http://schemas.microsoft.com/office/drawing/2014/main" id="{D6B0B3F5-7729-F1AE-9198-6C1184BD7347}"/>
              </a:ext>
            </a:extLst>
          </p:cNvPr>
          <p:cNvSpPr>
            <a:spLocks noGrp="1"/>
          </p:cNvSpPr>
          <p:nvPr>
            <p:ph idx="1"/>
          </p:nvPr>
        </p:nvSpPr>
        <p:spPr>
          <a:xfrm>
            <a:off x="245533" y="773113"/>
            <a:ext cx="11336867" cy="5830887"/>
          </a:xfrm>
        </p:spPr>
        <p:txBody>
          <a:bodyPr/>
          <a:lstStyle/>
          <a:p>
            <a:pPr marL="0" indent="0">
              <a:buNone/>
            </a:pPr>
            <a:r>
              <a:rPr lang="en-IN" sz="2000" dirty="0" err="1"/>
              <a:t>const</a:t>
            </a:r>
            <a:r>
              <a:rPr lang="en-IN" sz="2000" dirty="0"/>
              <a:t> </a:t>
            </a:r>
            <a:r>
              <a:rPr lang="en-IN" sz="2000" dirty="0" err="1"/>
              <a:t>initialState</a:t>
            </a:r>
            <a:r>
              <a:rPr lang="en-IN" sz="2000" dirty="0"/>
              <a:t> = {</a:t>
            </a:r>
          </a:p>
          <a:p>
            <a:pPr marL="0" indent="0">
              <a:buNone/>
            </a:pPr>
            <a:r>
              <a:rPr lang="en-IN" sz="2000" dirty="0"/>
              <a:t>  </a:t>
            </a:r>
            <a:r>
              <a:rPr lang="en-IN" sz="2000" dirty="0" err="1"/>
              <a:t>todos</a:t>
            </a:r>
            <a:r>
              <a:rPr lang="en-IN" sz="2000" dirty="0"/>
              <a:t>: [],</a:t>
            </a:r>
          </a:p>
          <a:p>
            <a:pPr marL="0" indent="0">
              <a:buNone/>
            </a:pPr>
            <a:r>
              <a:rPr lang="en-IN" sz="2000" dirty="0"/>
              <a:t>};</a:t>
            </a:r>
          </a:p>
          <a:p>
            <a:pPr marL="0" indent="0">
              <a:buNone/>
            </a:pPr>
            <a:endParaRPr lang="en-IN" sz="2000" dirty="0"/>
          </a:p>
          <a:p>
            <a:pPr marL="0" indent="0">
              <a:buNone/>
            </a:pPr>
            <a:r>
              <a:rPr lang="en-IN" sz="2000" dirty="0" err="1"/>
              <a:t>const</a:t>
            </a:r>
            <a:r>
              <a:rPr lang="en-IN" sz="2000" dirty="0"/>
              <a:t> </a:t>
            </a:r>
            <a:r>
              <a:rPr lang="en-IN" sz="2000" dirty="0" err="1"/>
              <a:t>todoReducer</a:t>
            </a:r>
            <a:r>
              <a:rPr lang="en-IN" sz="2000" dirty="0"/>
              <a:t> = (state = </a:t>
            </a:r>
            <a:r>
              <a:rPr lang="en-IN" sz="2000" dirty="0" err="1"/>
              <a:t>initialState</a:t>
            </a:r>
            <a:r>
              <a:rPr lang="en-IN" sz="2000" dirty="0"/>
              <a:t>, action) =&gt; {</a:t>
            </a:r>
          </a:p>
          <a:p>
            <a:pPr marL="0" indent="0">
              <a:buNone/>
            </a:pPr>
            <a:r>
              <a:rPr lang="en-IN" sz="2000" dirty="0"/>
              <a:t>  switch (</a:t>
            </a:r>
            <a:r>
              <a:rPr lang="en-IN" sz="2000" dirty="0" err="1"/>
              <a:t>action.type</a:t>
            </a:r>
            <a:r>
              <a:rPr lang="en-IN" sz="2000" dirty="0"/>
              <a:t>) {</a:t>
            </a:r>
          </a:p>
          <a:p>
            <a:pPr marL="0" indent="0">
              <a:buNone/>
            </a:pPr>
            <a:r>
              <a:rPr lang="en-IN" sz="2000" dirty="0"/>
              <a:t>    case ADD_TODO:</a:t>
            </a:r>
          </a:p>
          <a:p>
            <a:pPr marL="0" indent="0">
              <a:buNone/>
            </a:pPr>
            <a:r>
              <a:rPr lang="en-IN" sz="2000" dirty="0"/>
              <a:t>      return {</a:t>
            </a:r>
          </a:p>
          <a:p>
            <a:pPr marL="0" indent="0">
              <a:buNone/>
            </a:pPr>
            <a:r>
              <a:rPr lang="en-IN" sz="2000" dirty="0"/>
              <a:t>        ...state,</a:t>
            </a:r>
          </a:p>
          <a:p>
            <a:pPr marL="0" indent="0">
              <a:buNone/>
            </a:pPr>
            <a:r>
              <a:rPr lang="en-IN" sz="2000" dirty="0"/>
              <a:t>        </a:t>
            </a:r>
            <a:r>
              <a:rPr lang="en-IN" sz="2000" dirty="0" err="1"/>
              <a:t>todos</a:t>
            </a:r>
            <a:r>
              <a:rPr lang="en-IN" sz="2000" dirty="0"/>
              <a:t>: [...</a:t>
            </a:r>
            <a:r>
              <a:rPr lang="en-IN" sz="2000" dirty="0" err="1"/>
              <a:t>state.todos</a:t>
            </a:r>
            <a:r>
              <a:rPr lang="en-IN" sz="2000" dirty="0"/>
              <a:t>, </a:t>
            </a:r>
            <a:r>
              <a:rPr lang="en-IN" sz="2000" dirty="0" err="1"/>
              <a:t>action.payload</a:t>
            </a:r>
            <a:r>
              <a:rPr lang="en-IN" sz="2000" dirty="0"/>
              <a:t>],</a:t>
            </a:r>
          </a:p>
          <a:p>
            <a:pPr marL="0" indent="0">
              <a:buNone/>
            </a:pPr>
            <a:r>
              <a:rPr lang="en-IN" sz="2000" dirty="0"/>
              <a:t>      };</a:t>
            </a:r>
          </a:p>
          <a:p>
            <a:pPr marL="0" indent="0">
              <a:buNone/>
            </a:pPr>
            <a:r>
              <a:rPr lang="en-IN" sz="2000" dirty="0"/>
              <a:t>    default:</a:t>
            </a:r>
          </a:p>
          <a:p>
            <a:pPr marL="0" indent="0">
              <a:buNone/>
            </a:pPr>
            <a:r>
              <a:rPr lang="en-IN" sz="2000" dirty="0"/>
              <a:t>      return state;</a:t>
            </a:r>
          </a:p>
          <a:p>
            <a:pPr marL="0" indent="0">
              <a:buNone/>
            </a:pPr>
            <a:r>
              <a:rPr lang="en-IN" sz="2000" dirty="0"/>
              <a:t>  }</a:t>
            </a:r>
          </a:p>
          <a:p>
            <a:pPr marL="0" indent="0">
              <a:buNone/>
            </a:pPr>
            <a:r>
              <a:rPr lang="en-IN" sz="2000" dirty="0"/>
              <a:t>};</a:t>
            </a:r>
          </a:p>
          <a:p>
            <a:pPr marL="0" indent="0">
              <a:buNone/>
            </a:pPr>
            <a:endParaRPr lang="en-IN" dirty="0"/>
          </a:p>
        </p:txBody>
      </p:sp>
    </p:spTree>
    <p:extLst>
      <p:ext uri="{BB962C8B-B14F-4D97-AF65-F5344CB8AC3E}">
        <p14:creationId xmlns:p14="http://schemas.microsoft.com/office/powerpoint/2010/main" val="27275981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C6D2D-374C-D148-592E-6897B296C487}"/>
              </a:ext>
            </a:extLst>
          </p:cNvPr>
          <p:cNvSpPr>
            <a:spLocks noGrp="1"/>
          </p:cNvSpPr>
          <p:nvPr>
            <p:ph type="title"/>
          </p:nvPr>
        </p:nvSpPr>
        <p:spPr/>
        <p:txBody>
          <a:bodyPr/>
          <a:lstStyle/>
          <a:p>
            <a:r>
              <a:rPr lang="en-IN" dirty="0"/>
              <a:t>4. </a:t>
            </a:r>
            <a:r>
              <a:rPr lang="en-IN" b="1" dirty="0"/>
              <a:t>Dispatch</a:t>
            </a:r>
            <a:endParaRPr lang="en-IN" dirty="0"/>
          </a:p>
        </p:txBody>
      </p:sp>
      <p:sp>
        <p:nvSpPr>
          <p:cNvPr id="3" name="Content Placeholder 2">
            <a:extLst>
              <a:ext uri="{FF2B5EF4-FFF2-40B4-BE49-F238E27FC236}">
                <a16:creationId xmlns:a16="http://schemas.microsoft.com/office/drawing/2014/main" id="{1E018095-6B6E-382A-0A16-9C32DD4FFBA8}"/>
              </a:ext>
            </a:extLst>
          </p:cNvPr>
          <p:cNvSpPr>
            <a:spLocks noGrp="1"/>
          </p:cNvSpPr>
          <p:nvPr>
            <p:ph idx="1"/>
          </p:nvPr>
        </p:nvSpPr>
        <p:spPr/>
        <p:txBody>
          <a:bodyPr/>
          <a:lstStyle/>
          <a:p>
            <a:r>
              <a:rPr lang="en-US" dirty="0"/>
              <a:t>Dispatch is a method </a:t>
            </a:r>
            <a:r>
              <a:rPr lang="en-US" dirty="0">
                <a:solidFill>
                  <a:srgbClr val="FF0000"/>
                </a:solidFill>
              </a:rPr>
              <a:t>used to send actions to the store.</a:t>
            </a:r>
          </a:p>
          <a:p>
            <a:r>
              <a:rPr lang="en-US" dirty="0"/>
              <a:t>When an action is dispatched, </a:t>
            </a:r>
            <a:r>
              <a:rPr lang="en-US" dirty="0">
                <a:solidFill>
                  <a:srgbClr val="FF0000"/>
                </a:solidFill>
              </a:rPr>
              <a:t>Redux calls the reducer </a:t>
            </a:r>
            <a:r>
              <a:rPr lang="en-US" dirty="0"/>
              <a:t>to </a:t>
            </a:r>
            <a:r>
              <a:rPr lang="en-US" dirty="0">
                <a:solidFill>
                  <a:srgbClr val="FF0000"/>
                </a:solidFill>
              </a:rPr>
              <a:t>update the state based on the action type.</a:t>
            </a:r>
            <a:endParaRPr lang="en-IN" dirty="0">
              <a:solidFill>
                <a:srgbClr val="FF0000"/>
              </a:solidFill>
            </a:endParaRPr>
          </a:p>
        </p:txBody>
      </p:sp>
    </p:spTree>
    <p:extLst>
      <p:ext uri="{BB962C8B-B14F-4D97-AF65-F5344CB8AC3E}">
        <p14:creationId xmlns:p14="http://schemas.microsoft.com/office/powerpoint/2010/main" val="42220523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6A101-6DBD-2AF0-CF29-799AE722E6CD}"/>
              </a:ext>
            </a:extLst>
          </p:cNvPr>
          <p:cNvSpPr>
            <a:spLocks noGrp="1"/>
          </p:cNvSpPr>
          <p:nvPr>
            <p:ph type="title"/>
          </p:nvPr>
        </p:nvSpPr>
        <p:spPr/>
        <p:txBody>
          <a:bodyPr/>
          <a:lstStyle/>
          <a:p>
            <a:r>
              <a:rPr lang="en-IN" dirty="0"/>
              <a:t>Example of Dispatching an action</a:t>
            </a:r>
          </a:p>
        </p:txBody>
      </p:sp>
      <p:sp>
        <p:nvSpPr>
          <p:cNvPr id="3" name="Content Placeholder 2">
            <a:extLst>
              <a:ext uri="{FF2B5EF4-FFF2-40B4-BE49-F238E27FC236}">
                <a16:creationId xmlns:a16="http://schemas.microsoft.com/office/drawing/2014/main" id="{06D788CD-94E0-6A74-B999-BF50786E3016}"/>
              </a:ext>
            </a:extLst>
          </p:cNvPr>
          <p:cNvSpPr>
            <a:spLocks noGrp="1"/>
          </p:cNvSpPr>
          <p:nvPr>
            <p:ph idx="1"/>
          </p:nvPr>
        </p:nvSpPr>
        <p:spPr/>
        <p:txBody>
          <a:bodyPr/>
          <a:lstStyle/>
          <a:p>
            <a:pPr marL="0" indent="0">
              <a:buNone/>
            </a:pPr>
            <a:r>
              <a:rPr lang="en-IN" dirty="0" err="1"/>
              <a:t>store.dispatch</a:t>
            </a:r>
            <a:r>
              <a:rPr lang="en-IN" dirty="0"/>
              <a:t>(</a:t>
            </a:r>
            <a:r>
              <a:rPr lang="en-IN" dirty="0" err="1"/>
              <a:t>addTodo</a:t>
            </a:r>
            <a:r>
              <a:rPr lang="en-IN" dirty="0"/>
              <a:t>('Learn Redux'));</a:t>
            </a:r>
          </a:p>
          <a:p>
            <a:pPr marL="0" indent="0">
              <a:buNone/>
            </a:pPr>
            <a:endParaRPr lang="en-IN" dirty="0"/>
          </a:p>
        </p:txBody>
      </p:sp>
    </p:spTree>
    <p:extLst>
      <p:ext uri="{BB962C8B-B14F-4D97-AF65-F5344CB8AC3E}">
        <p14:creationId xmlns:p14="http://schemas.microsoft.com/office/powerpoint/2010/main" val="346045158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009C6-4A6B-5FDB-6F6F-E79D8EA16A07}"/>
              </a:ext>
            </a:extLst>
          </p:cNvPr>
          <p:cNvSpPr>
            <a:spLocks noGrp="1"/>
          </p:cNvSpPr>
          <p:nvPr>
            <p:ph type="title"/>
          </p:nvPr>
        </p:nvSpPr>
        <p:spPr/>
        <p:txBody>
          <a:bodyPr/>
          <a:lstStyle/>
          <a:p>
            <a:r>
              <a:rPr lang="en-IN" dirty="0"/>
              <a:t>5. Selectors</a:t>
            </a:r>
            <a:br>
              <a:rPr lang="en-IN" dirty="0"/>
            </a:br>
            <a:endParaRPr lang="en-IN" dirty="0"/>
          </a:p>
        </p:txBody>
      </p:sp>
      <p:sp>
        <p:nvSpPr>
          <p:cNvPr id="3" name="Content Placeholder 2">
            <a:extLst>
              <a:ext uri="{FF2B5EF4-FFF2-40B4-BE49-F238E27FC236}">
                <a16:creationId xmlns:a16="http://schemas.microsoft.com/office/drawing/2014/main" id="{D8C0AD9D-9F5F-13BE-1FFD-96335D58F6EE}"/>
              </a:ext>
            </a:extLst>
          </p:cNvPr>
          <p:cNvSpPr>
            <a:spLocks noGrp="1"/>
          </p:cNvSpPr>
          <p:nvPr>
            <p:ph idx="1"/>
          </p:nvPr>
        </p:nvSpPr>
        <p:spPr/>
        <p:txBody>
          <a:bodyPr/>
          <a:lstStyle/>
          <a:p>
            <a:r>
              <a:rPr lang="en-US" dirty="0"/>
              <a:t>Selectors are </a:t>
            </a:r>
            <a:r>
              <a:rPr lang="en-US" dirty="0">
                <a:solidFill>
                  <a:srgbClr val="FF0000"/>
                </a:solidFill>
              </a:rPr>
              <a:t>functions that extract and return a portion of the state from the store</a:t>
            </a:r>
            <a:r>
              <a:rPr lang="en-US" dirty="0"/>
              <a:t>. </a:t>
            </a:r>
          </a:p>
          <a:p>
            <a:r>
              <a:rPr lang="en-US" dirty="0"/>
              <a:t>They are </a:t>
            </a:r>
            <a:r>
              <a:rPr lang="en-US" dirty="0">
                <a:solidFill>
                  <a:srgbClr val="FF0000"/>
                </a:solidFill>
              </a:rPr>
              <a:t>used to encapsulate the logic for retrieving state </a:t>
            </a:r>
            <a:r>
              <a:rPr lang="en-US" dirty="0"/>
              <a:t>and can </a:t>
            </a:r>
            <a:r>
              <a:rPr lang="en-US" dirty="0">
                <a:solidFill>
                  <a:srgbClr val="FF0000"/>
                </a:solidFill>
              </a:rPr>
              <a:t>help keep components decoupled from the state structure.</a:t>
            </a:r>
            <a:endParaRPr lang="en-IN" dirty="0">
              <a:solidFill>
                <a:srgbClr val="FF0000"/>
              </a:solidFill>
            </a:endParaRPr>
          </a:p>
        </p:txBody>
      </p:sp>
    </p:spTree>
    <p:extLst>
      <p:ext uri="{BB962C8B-B14F-4D97-AF65-F5344CB8AC3E}">
        <p14:creationId xmlns:p14="http://schemas.microsoft.com/office/powerpoint/2010/main" val="13811602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760-4761-6A9F-2F76-66B4E41F8E6B}"/>
              </a:ext>
            </a:extLst>
          </p:cNvPr>
          <p:cNvSpPr>
            <a:spLocks noGrp="1"/>
          </p:cNvSpPr>
          <p:nvPr>
            <p:ph type="title"/>
          </p:nvPr>
        </p:nvSpPr>
        <p:spPr/>
        <p:txBody>
          <a:bodyPr/>
          <a:lstStyle/>
          <a:p>
            <a:r>
              <a:rPr lang="en-IN" dirty="0"/>
              <a:t>Example of Selectors</a:t>
            </a:r>
          </a:p>
        </p:txBody>
      </p:sp>
      <p:sp>
        <p:nvSpPr>
          <p:cNvPr id="3" name="Content Placeholder 2">
            <a:extLst>
              <a:ext uri="{FF2B5EF4-FFF2-40B4-BE49-F238E27FC236}">
                <a16:creationId xmlns:a16="http://schemas.microsoft.com/office/drawing/2014/main" id="{EE20DB77-6F34-C66C-F30D-2C20056D076F}"/>
              </a:ext>
            </a:extLst>
          </p:cNvPr>
          <p:cNvSpPr>
            <a:spLocks noGrp="1"/>
          </p:cNvSpPr>
          <p:nvPr>
            <p:ph idx="1"/>
          </p:nvPr>
        </p:nvSpPr>
        <p:spPr/>
        <p:txBody>
          <a:bodyPr/>
          <a:lstStyle/>
          <a:p>
            <a:pPr marL="0" indent="0">
              <a:buNone/>
            </a:pPr>
            <a:r>
              <a:rPr lang="en-IN" dirty="0" err="1"/>
              <a:t>const</a:t>
            </a:r>
            <a:r>
              <a:rPr lang="en-IN" dirty="0"/>
              <a:t> </a:t>
            </a:r>
            <a:r>
              <a:rPr lang="en-IN" dirty="0" err="1"/>
              <a:t>getTodos</a:t>
            </a:r>
            <a:r>
              <a:rPr lang="en-IN" dirty="0"/>
              <a:t> = (state) =&gt; </a:t>
            </a:r>
            <a:r>
              <a:rPr lang="en-IN" dirty="0" err="1"/>
              <a:t>state.todos</a:t>
            </a:r>
            <a:r>
              <a:rPr lang="en-IN" dirty="0"/>
              <a:t>;</a:t>
            </a:r>
          </a:p>
          <a:p>
            <a:pPr marL="0" indent="0">
              <a:buNone/>
            </a:pPr>
            <a:endParaRPr lang="en-IN" dirty="0"/>
          </a:p>
        </p:txBody>
      </p:sp>
    </p:spTree>
    <p:extLst>
      <p:ext uri="{BB962C8B-B14F-4D97-AF65-F5344CB8AC3E}">
        <p14:creationId xmlns:p14="http://schemas.microsoft.com/office/powerpoint/2010/main" val="2112582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3AE9-4CFB-438B-ECAA-763D84A3D37D}"/>
              </a:ext>
            </a:extLst>
          </p:cNvPr>
          <p:cNvSpPr>
            <a:spLocks noGrp="1"/>
          </p:cNvSpPr>
          <p:nvPr>
            <p:ph type="title"/>
          </p:nvPr>
        </p:nvSpPr>
        <p:spPr/>
        <p:txBody>
          <a:bodyPr/>
          <a:lstStyle/>
          <a:p>
            <a:r>
              <a:rPr lang="en-IN" dirty="0"/>
              <a:t>6. Middleware</a:t>
            </a:r>
          </a:p>
        </p:txBody>
      </p:sp>
      <p:sp>
        <p:nvSpPr>
          <p:cNvPr id="3" name="Content Placeholder 2">
            <a:extLst>
              <a:ext uri="{FF2B5EF4-FFF2-40B4-BE49-F238E27FC236}">
                <a16:creationId xmlns:a16="http://schemas.microsoft.com/office/drawing/2014/main" id="{B46C2916-9639-50D6-9A75-FBF04F70F9D7}"/>
              </a:ext>
            </a:extLst>
          </p:cNvPr>
          <p:cNvSpPr>
            <a:spLocks noGrp="1"/>
          </p:cNvSpPr>
          <p:nvPr>
            <p:ph idx="1"/>
          </p:nvPr>
        </p:nvSpPr>
        <p:spPr/>
        <p:txBody>
          <a:bodyPr/>
          <a:lstStyle/>
          <a:p>
            <a:r>
              <a:rPr lang="en-IN" dirty="0"/>
              <a:t>Middleware provides a way to </a:t>
            </a:r>
            <a:r>
              <a:rPr lang="en-IN" dirty="0">
                <a:solidFill>
                  <a:srgbClr val="FF0000"/>
                </a:solidFill>
              </a:rPr>
              <a:t>extend Redux with custom functionality. </a:t>
            </a:r>
          </a:p>
          <a:p>
            <a:r>
              <a:rPr lang="en-IN" dirty="0"/>
              <a:t>Common use cases include logging actions, performing asynchronous operations, and error handling. </a:t>
            </a:r>
          </a:p>
          <a:p>
            <a:r>
              <a:rPr lang="en-IN" dirty="0"/>
              <a:t>Redux </a:t>
            </a:r>
            <a:r>
              <a:rPr lang="en-IN" dirty="0" err="1"/>
              <a:t>Thunk</a:t>
            </a:r>
            <a:r>
              <a:rPr lang="en-IN" dirty="0"/>
              <a:t> is a popular middleware for handling asynchronous actions.</a:t>
            </a:r>
          </a:p>
        </p:txBody>
      </p:sp>
    </p:spTree>
    <p:extLst>
      <p:ext uri="{BB962C8B-B14F-4D97-AF65-F5344CB8AC3E}">
        <p14:creationId xmlns:p14="http://schemas.microsoft.com/office/powerpoint/2010/main" val="15221580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3AA57-92CA-576D-F8A0-46B33F1575F0}"/>
              </a:ext>
            </a:extLst>
          </p:cNvPr>
          <p:cNvSpPr>
            <a:spLocks noGrp="1"/>
          </p:cNvSpPr>
          <p:nvPr>
            <p:ph type="title"/>
          </p:nvPr>
        </p:nvSpPr>
        <p:spPr/>
        <p:txBody>
          <a:bodyPr/>
          <a:lstStyle/>
          <a:p>
            <a:r>
              <a:rPr lang="en-IN" dirty="0"/>
              <a:t>7.</a:t>
            </a:r>
            <a:r>
              <a:rPr lang="en-IN" b="1" dirty="0"/>
              <a:t>React-Redux</a:t>
            </a:r>
            <a:endParaRPr lang="en-IN" dirty="0"/>
          </a:p>
        </p:txBody>
      </p:sp>
      <p:sp>
        <p:nvSpPr>
          <p:cNvPr id="3" name="Content Placeholder 2">
            <a:extLst>
              <a:ext uri="{FF2B5EF4-FFF2-40B4-BE49-F238E27FC236}">
                <a16:creationId xmlns:a16="http://schemas.microsoft.com/office/drawing/2014/main" id="{AF7662DC-C89D-A60C-16B8-54ABA0AA870E}"/>
              </a:ext>
            </a:extLst>
          </p:cNvPr>
          <p:cNvSpPr>
            <a:spLocks noGrp="1"/>
          </p:cNvSpPr>
          <p:nvPr>
            <p:ph idx="1"/>
          </p:nvPr>
        </p:nvSpPr>
        <p:spPr/>
        <p:txBody>
          <a:bodyPr/>
          <a:lstStyle/>
          <a:p>
            <a:r>
              <a:rPr lang="en-US" dirty="0"/>
              <a:t>React-Redux is the official binding library for using Redux with React. </a:t>
            </a:r>
          </a:p>
          <a:p>
            <a:r>
              <a:rPr lang="en-US" dirty="0"/>
              <a:t>It provides hooks like </a:t>
            </a:r>
            <a:r>
              <a:rPr lang="en-US" dirty="0" err="1"/>
              <a:t>useSelector</a:t>
            </a:r>
            <a:r>
              <a:rPr lang="en-US" dirty="0"/>
              <a:t> and </a:t>
            </a:r>
            <a:r>
              <a:rPr lang="en-US" dirty="0" err="1"/>
              <a:t>useDispatch</a:t>
            </a:r>
            <a:r>
              <a:rPr lang="en-US" dirty="0"/>
              <a:t> for interacting with the Redux store in functional components</a:t>
            </a:r>
            <a:endParaRPr lang="en-IN" dirty="0"/>
          </a:p>
        </p:txBody>
      </p:sp>
    </p:spTree>
    <p:extLst>
      <p:ext uri="{BB962C8B-B14F-4D97-AF65-F5344CB8AC3E}">
        <p14:creationId xmlns:p14="http://schemas.microsoft.com/office/powerpoint/2010/main" val="52307509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B978A-0404-E2DD-5115-9DDF1B2EF2CF}"/>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B9F67FC-797B-DA53-88CB-6CA75AE591B5}"/>
              </a:ext>
            </a:extLst>
          </p:cNvPr>
          <p:cNvSpPr>
            <a:spLocks noGrp="1"/>
          </p:cNvSpPr>
          <p:nvPr>
            <p:ph idx="1"/>
          </p:nvPr>
        </p:nvSpPr>
        <p:spPr/>
        <p:txBody>
          <a:bodyPr/>
          <a:lstStyle/>
          <a:p>
            <a:pPr marL="0" indent="0">
              <a:buNone/>
            </a:pPr>
            <a:r>
              <a:rPr lang="en-IN" sz="1600" dirty="0"/>
              <a:t>import { </a:t>
            </a:r>
            <a:r>
              <a:rPr lang="en-IN" sz="1600" dirty="0" err="1"/>
              <a:t>useDispatch</a:t>
            </a:r>
            <a:r>
              <a:rPr lang="en-IN" sz="1600" dirty="0"/>
              <a:t>, </a:t>
            </a:r>
            <a:r>
              <a:rPr lang="en-IN" sz="1600" dirty="0" err="1"/>
              <a:t>useSelector</a:t>
            </a:r>
            <a:r>
              <a:rPr lang="en-IN" sz="1600" dirty="0"/>
              <a:t> } from 'react-redux';</a:t>
            </a:r>
          </a:p>
          <a:p>
            <a:pPr marL="0" indent="0">
              <a:buNone/>
            </a:pPr>
            <a:endParaRPr lang="en-IN" sz="1600" dirty="0"/>
          </a:p>
          <a:p>
            <a:pPr marL="0" indent="0">
              <a:buNone/>
            </a:pPr>
            <a:r>
              <a:rPr lang="en-IN" sz="1600" dirty="0" err="1"/>
              <a:t>const</a:t>
            </a:r>
            <a:r>
              <a:rPr lang="en-IN" sz="1600" dirty="0"/>
              <a:t> </a:t>
            </a:r>
            <a:r>
              <a:rPr lang="en-IN" sz="1600" dirty="0" err="1"/>
              <a:t>TodoComponent</a:t>
            </a:r>
            <a:r>
              <a:rPr lang="en-IN" sz="1600" dirty="0"/>
              <a:t> = () =&gt; {</a:t>
            </a:r>
          </a:p>
          <a:p>
            <a:pPr marL="0" indent="0">
              <a:buNone/>
            </a:pPr>
            <a:r>
              <a:rPr lang="en-IN" sz="1600" dirty="0"/>
              <a:t>  </a:t>
            </a:r>
            <a:r>
              <a:rPr lang="en-IN" sz="1600" dirty="0" err="1"/>
              <a:t>const</a:t>
            </a:r>
            <a:r>
              <a:rPr lang="en-IN" sz="1600" dirty="0"/>
              <a:t> </a:t>
            </a:r>
            <a:r>
              <a:rPr lang="en-IN" sz="1600" dirty="0" err="1"/>
              <a:t>todos</a:t>
            </a:r>
            <a:r>
              <a:rPr lang="en-IN" sz="1600" dirty="0"/>
              <a:t> = </a:t>
            </a:r>
            <a:r>
              <a:rPr lang="en-IN" sz="1600" dirty="0" err="1"/>
              <a:t>useSelector</a:t>
            </a:r>
            <a:r>
              <a:rPr lang="en-IN" sz="1600" dirty="0"/>
              <a:t>(</a:t>
            </a:r>
            <a:r>
              <a:rPr lang="en-IN" sz="1600" dirty="0" err="1"/>
              <a:t>getTodos</a:t>
            </a:r>
            <a:r>
              <a:rPr lang="en-IN" sz="1600" dirty="0"/>
              <a:t>);</a:t>
            </a:r>
          </a:p>
          <a:p>
            <a:pPr marL="0" indent="0">
              <a:buNone/>
            </a:pPr>
            <a:r>
              <a:rPr lang="en-IN" sz="1600" dirty="0"/>
              <a:t>  </a:t>
            </a:r>
            <a:r>
              <a:rPr lang="en-IN" sz="1600" dirty="0" err="1"/>
              <a:t>const</a:t>
            </a:r>
            <a:r>
              <a:rPr lang="en-IN" sz="1600" dirty="0"/>
              <a:t> dispatch = </a:t>
            </a:r>
            <a:r>
              <a:rPr lang="en-IN" sz="1600" dirty="0" err="1"/>
              <a:t>useDispatch</a:t>
            </a:r>
            <a:r>
              <a:rPr lang="en-IN" sz="1600" dirty="0"/>
              <a:t>();</a:t>
            </a:r>
          </a:p>
          <a:p>
            <a:pPr marL="0" indent="0">
              <a:buNone/>
            </a:pPr>
            <a:endParaRPr lang="en-IN" sz="1600" dirty="0"/>
          </a:p>
          <a:p>
            <a:pPr marL="0" indent="0">
              <a:buNone/>
            </a:pPr>
            <a:r>
              <a:rPr lang="en-IN" sz="1600" dirty="0"/>
              <a:t>  </a:t>
            </a:r>
            <a:r>
              <a:rPr lang="en-IN" sz="1600" dirty="0" err="1"/>
              <a:t>const</a:t>
            </a:r>
            <a:r>
              <a:rPr lang="en-IN" sz="1600" dirty="0"/>
              <a:t> </a:t>
            </a:r>
            <a:r>
              <a:rPr lang="en-IN" sz="1600" dirty="0" err="1"/>
              <a:t>handleAddTodo</a:t>
            </a:r>
            <a:r>
              <a:rPr lang="en-IN" sz="1600" dirty="0"/>
              <a:t> = (text) =&gt; {</a:t>
            </a:r>
          </a:p>
          <a:p>
            <a:pPr marL="0" indent="0">
              <a:buNone/>
            </a:pPr>
            <a:r>
              <a:rPr lang="en-IN" sz="1600" dirty="0"/>
              <a:t>    dispatch(</a:t>
            </a:r>
            <a:r>
              <a:rPr lang="en-IN" sz="1600" dirty="0" err="1"/>
              <a:t>addTodo</a:t>
            </a:r>
            <a:r>
              <a:rPr lang="en-IN" sz="1600" dirty="0"/>
              <a:t>(text));</a:t>
            </a:r>
          </a:p>
          <a:p>
            <a:pPr marL="0" indent="0">
              <a:buNone/>
            </a:pPr>
            <a:r>
              <a:rPr lang="en-IN" sz="1600" dirty="0"/>
              <a:t>  };</a:t>
            </a:r>
          </a:p>
          <a:p>
            <a:pPr marL="0" indent="0">
              <a:buNone/>
            </a:pPr>
            <a:endParaRPr lang="en-IN" sz="1600" dirty="0"/>
          </a:p>
          <a:p>
            <a:pPr marL="0" indent="0">
              <a:buNone/>
            </a:pPr>
            <a:r>
              <a:rPr lang="en-IN" sz="1600" dirty="0"/>
              <a:t>  return (</a:t>
            </a:r>
          </a:p>
          <a:p>
            <a:pPr marL="0" indent="0">
              <a:buNone/>
            </a:pPr>
            <a:r>
              <a:rPr lang="en-IN" sz="1600" dirty="0"/>
              <a:t>    &lt;div&gt;</a:t>
            </a:r>
          </a:p>
          <a:p>
            <a:pPr marL="0" indent="0">
              <a:buNone/>
            </a:pPr>
            <a:r>
              <a:rPr lang="en-IN" sz="1600" dirty="0"/>
              <a:t>      {</a:t>
            </a:r>
            <a:r>
              <a:rPr lang="en-IN" sz="1600" dirty="0" err="1"/>
              <a:t>todos.map</a:t>
            </a:r>
            <a:r>
              <a:rPr lang="en-IN" sz="1600" dirty="0"/>
              <a:t>(</a:t>
            </a:r>
            <a:r>
              <a:rPr lang="en-IN" sz="1600" dirty="0" err="1"/>
              <a:t>todo</a:t>
            </a:r>
            <a:r>
              <a:rPr lang="en-IN" sz="1600" dirty="0"/>
              <a:t> =&gt; &lt;div key={</a:t>
            </a:r>
            <a:r>
              <a:rPr lang="en-IN" sz="1600" dirty="0" err="1"/>
              <a:t>todo</a:t>
            </a:r>
            <a:r>
              <a:rPr lang="en-IN" sz="1600" dirty="0"/>
              <a:t>}&gt;{</a:t>
            </a:r>
            <a:r>
              <a:rPr lang="en-IN" sz="1600" dirty="0" err="1"/>
              <a:t>todo</a:t>
            </a:r>
            <a:r>
              <a:rPr lang="en-IN" sz="1600" dirty="0"/>
              <a:t>}&lt;/div&gt;)}</a:t>
            </a:r>
          </a:p>
          <a:p>
            <a:pPr marL="0" indent="0">
              <a:buNone/>
            </a:pPr>
            <a:r>
              <a:rPr lang="en-IN" sz="1600" dirty="0"/>
              <a:t>      &lt;button </a:t>
            </a:r>
            <a:r>
              <a:rPr lang="en-IN" sz="1600" dirty="0" err="1"/>
              <a:t>onClick</a:t>
            </a:r>
            <a:r>
              <a:rPr lang="en-IN" sz="1600" dirty="0"/>
              <a:t>={() =&gt; </a:t>
            </a:r>
            <a:r>
              <a:rPr lang="en-IN" sz="1600" dirty="0" err="1"/>
              <a:t>handleAddTodo</a:t>
            </a:r>
            <a:r>
              <a:rPr lang="en-IN" sz="1600" dirty="0"/>
              <a:t>('New Todo')}&gt;Add Todo&lt;/button&gt;</a:t>
            </a:r>
          </a:p>
          <a:p>
            <a:pPr marL="0" indent="0">
              <a:buNone/>
            </a:pPr>
            <a:r>
              <a:rPr lang="en-IN" sz="1600" dirty="0"/>
              <a:t>    &lt;/div&gt;</a:t>
            </a:r>
          </a:p>
          <a:p>
            <a:pPr marL="0" indent="0">
              <a:buNone/>
            </a:pPr>
            <a:r>
              <a:rPr lang="en-IN" sz="1600" dirty="0"/>
              <a:t>  );</a:t>
            </a:r>
          </a:p>
          <a:p>
            <a:pPr marL="0" indent="0">
              <a:buNone/>
            </a:pPr>
            <a:r>
              <a:rPr lang="en-IN" sz="1600" dirty="0"/>
              <a:t>};</a:t>
            </a:r>
          </a:p>
          <a:p>
            <a:pPr marL="0" indent="0">
              <a:buNone/>
            </a:pPr>
            <a:endParaRPr lang="en-IN" sz="1600" dirty="0"/>
          </a:p>
        </p:txBody>
      </p:sp>
    </p:spTree>
    <p:extLst>
      <p:ext uri="{BB962C8B-B14F-4D97-AF65-F5344CB8AC3E}">
        <p14:creationId xmlns:p14="http://schemas.microsoft.com/office/powerpoint/2010/main" val="7923454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8D13D-2DD3-6FB0-34E2-BB61C393AFFE}"/>
              </a:ext>
            </a:extLst>
          </p:cNvPr>
          <p:cNvSpPr>
            <a:spLocks noGrp="1"/>
          </p:cNvSpPr>
          <p:nvPr>
            <p:ph type="title"/>
          </p:nvPr>
        </p:nvSpPr>
        <p:spPr/>
        <p:txBody>
          <a:bodyPr/>
          <a:lstStyle/>
          <a:p>
            <a:r>
              <a:rPr lang="en-IN" dirty="0"/>
              <a:t>Understanding Redux Flow</a:t>
            </a:r>
          </a:p>
        </p:txBody>
      </p:sp>
      <p:sp>
        <p:nvSpPr>
          <p:cNvPr id="3" name="Content Placeholder 2">
            <a:extLst>
              <a:ext uri="{FF2B5EF4-FFF2-40B4-BE49-F238E27FC236}">
                <a16:creationId xmlns:a16="http://schemas.microsoft.com/office/drawing/2014/main" id="{C6847569-0ACF-6828-91D5-8A7D2A5E0741}"/>
              </a:ext>
            </a:extLst>
          </p:cNvPr>
          <p:cNvSpPr>
            <a:spLocks noGrp="1"/>
          </p:cNvSpPr>
          <p:nvPr>
            <p:ph idx="1"/>
          </p:nvPr>
        </p:nvSpPr>
        <p:spPr>
          <a:xfrm>
            <a:off x="452966" y="1024467"/>
            <a:ext cx="11286067" cy="5484283"/>
          </a:xfrm>
        </p:spPr>
        <p:txBody>
          <a:bodyPr/>
          <a:lstStyle/>
          <a:p>
            <a:pPr marL="0" indent="0">
              <a:buNone/>
            </a:pPr>
            <a:r>
              <a:rPr lang="en-US" sz="2000" dirty="0">
                <a:solidFill>
                  <a:srgbClr val="FF0000"/>
                </a:solidFill>
              </a:rPr>
              <a:t>1. State</a:t>
            </a:r>
          </a:p>
          <a:p>
            <a:r>
              <a:rPr lang="en-US" sz="2000" dirty="0"/>
              <a:t>The single source of truth for your application. The entire state is stored in a single object, which makes it easy to manage and access.</a:t>
            </a:r>
          </a:p>
          <a:p>
            <a:pPr marL="0" indent="0">
              <a:buNone/>
            </a:pPr>
            <a:r>
              <a:rPr lang="en-US" sz="2000" dirty="0">
                <a:solidFill>
                  <a:srgbClr val="FF0000"/>
                </a:solidFill>
              </a:rPr>
              <a:t>2. Actions</a:t>
            </a:r>
            <a:endParaRPr lang="en-US" sz="2000" dirty="0"/>
          </a:p>
          <a:p>
            <a:r>
              <a:rPr lang="en-US" sz="2000" dirty="0"/>
              <a:t>Actions are plain JavaScript objects that describe what happened in the application. Every action has a type property (a string constant) and may contain additional data (payload) relevant to the action.</a:t>
            </a:r>
          </a:p>
          <a:p>
            <a:pPr marL="0" indent="0">
              <a:buNone/>
            </a:pPr>
            <a:r>
              <a:rPr lang="en-US" sz="2000" dirty="0">
                <a:solidFill>
                  <a:srgbClr val="FF0000"/>
                </a:solidFill>
              </a:rPr>
              <a:t>3. Reducers</a:t>
            </a:r>
            <a:endParaRPr lang="en-US" sz="2000" dirty="0"/>
          </a:p>
          <a:p>
            <a:r>
              <a:rPr lang="en-US" sz="2000" dirty="0"/>
              <a:t>Pure functions that specify how the state should change in response to actions. A reducer takes the current state and an action as arguments and returns a new state. It never modifies the existing state directly.</a:t>
            </a:r>
          </a:p>
          <a:p>
            <a:pPr marL="0" indent="0">
              <a:buNone/>
            </a:pPr>
            <a:r>
              <a:rPr lang="en-US" sz="2000" dirty="0">
                <a:solidFill>
                  <a:srgbClr val="FF0000"/>
                </a:solidFill>
              </a:rPr>
              <a:t>4. Store</a:t>
            </a:r>
          </a:p>
          <a:p>
            <a:r>
              <a:rPr lang="en-US" sz="2000" dirty="0"/>
              <a:t>The store holds the application state and provides methods to access the state, dispatch actions, and subscribe to changes.</a:t>
            </a:r>
            <a:endParaRPr lang="en-IN" sz="2000" dirty="0"/>
          </a:p>
        </p:txBody>
      </p:sp>
    </p:spTree>
    <p:extLst>
      <p:ext uri="{BB962C8B-B14F-4D97-AF65-F5344CB8AC3E}">
        <p14:creationId xmlns:p14="http://schemas.microsoft.com/office/powerpoint/2010/main" val="21419228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B3CB-FE49-450F-7E40-2B9B08D9AC86}"/>
              </a:ext>
            </a:extLst>
          </p:cNvPr>
          <p:cNvSpPr>
            <a:spLocks noGrp="1"/>
          </p:cNvSpPr>
          <p:nvPr>
            <p:ph type="title"/>
          </p:nvPr>
        </p:nvSpPr>
        <p:spPr/>
        <p:txBody>
          <a:bodyPr/>
          <a:lstStyle/>
          <a:p>
            <a:r>
              <a:rPr lang="en-IN" dirty="0"/>
              <a:t>Redux Flow Steps</a:t>
            </a:r>
          </a:p>
        </p:txBody>
      </p:sp>
      <p:sp>
        <p:nvSpPr>
          <p:cNvPr id="3" name="Content Placeholder 2">
            <a:extLst>
              <a:ext uri="{FF2B5EF4-FFF2-40B4-BE49-F238E27FC236}">
                <a16:creationId xmlns:a16="http://schemas.microsoft.com/office/drawing/2014/main" id="{0161E108-61CB-6495-E318-328453C9DF26}"/>
              </a:ext>
            </a:extLst>
          </p:cNvPr>
          <p:cNvSpPr>
            <a:spLocks noGrp="1"/>
          </p:cNvSpPr>
          <p:nvPr>
            <p:ph idx="1"/>
          </p:nvPr>
        </p:nvSpPr>
        <p:spPr>
          <a:xfrm>
            <a:off x="609599" y="1174750"/>
            <a:ext cx="11362267" cy="4953000"/>
          </a:xfrm>
        </p:spPr>
        <p:txBody>
          <a:bodyPr/>
          <a:lstStyle/>
          <a:p>
            <a:pPr marL="0" indent="0">
              <a:buNone/>
            </a:pPr>
            <a:r>
              <a:rPr lang="en-IN" dirty="0"/>
              <a:t>1. </a:t>
            </a:r>
            <a:r>
              <a:rPr lang="en-US" dirty="0"/>
              <a:t>Dispatching an Action</a:t>
            </a:r>
          </a:p>
          <a:p>
            <a:pPr marL="0" indent="0">
              <a:buNone/>
            </a:pPr>
            <a:endParaRPr lang="en-US" dirty="0"/>
          </a:p>
          <a:p>
            <a:r>
              <a:rPr lang="en-US" sz="2800" dirty="0"/>
              <a:t>The flow begins when an event occurs in the application (like a user interaction). This triggers an action to be dispatched. </a:t>
            </a:r>
          </a:p>
          <a:p>
            <a:r>
              <a:rPr lang="en-US" sz="2800" dirty="0"/>
              <a:t>Use the dispatch method from the store to send an action:-</a:t>
            </a:r>
          </a:p>
          <a:p>
            <a:pPr marL="0" indent="0">
              <a:buNone/>
            </a:pPr>
            <a:endParaRPr lang="en-IN" dirty="0"/>
          </a:p>
          <a:p>
            <a:pPr marL="0" indent="0">
              <a:buNone/>
            </a:pPr>
            <a:r>
              <a:rPr lang="en-IN" dirty="0" err="1"/>
              <a:t>store.dispatch</a:t>
            </a:r>
            <a:r>
              <a:rPr lang="en-IN" dirty="0"/>
              <a:t>({ type: 'ADD_ITEM', payload: </a:t>
            </a:r>
            <a:r>
              <a:rPr lang="en-IN" dirty="0" err="1"/>
              <a:t>newItem</a:t>
            </a:r>
            <a:r>
              <a:rPr lang="en-IN" dirty="0"/>
              <a:t> });</a:t>
            </a:r>
          </a:p>
          <a:p>
            <a:pPr marL="0" indent="0">
              <a:buNone/>
            </a:pPr>
            <a:endParaRPr lang="en-IN" dirty="0"/>
          </a:p>
        </p:txBody>
      </p:sp>
    </p:spTree>
    <p:extLst>
      <p:ext uri="{BB962C8B-B14F-4D97-AF65-F5344CB8AC3E}">
        <p14:creationId xmlns:p14="http://schemas.microsoft.com/office/powerpoint/2010/main" val="20066428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4BB45-8C6A-6070-E328-99D4D0F9D748}"/>
              </a:ext>
            </a:extLst>
          </p:cNvPr>
          <p:cNvSpPr>
            <a:spLocks noGrp="1"/>
          </p:cNvSpPr>
          <p:nvPr>
            <p:ph type="title"/>
          </p:nvPr>
        </p:nvSpPr>
        <p:spPr/>
        <p:txBody>
          <a:bodyPr/>
          <a:lstStyle/>
          <a:p>
            <a:r>
              <a:rPr lang="en-US" dirty="0"/>
              <a:t>2. Reducer Receives Action</a:t>
            </a:r>
            <a:br>
              <a:rPr lang="en-US" dirty="0"/>
            </a:br>
            <a:endParaRPr lang="en-IN" dirty="0"/>
          </a:p>
        </p:txBody>
      </p:sp>
      <p:sp>
        <p:nvSpPr>
          <p:cNvPr id="3" name="Content Placeholder 2">
            <a:extLst>
              <a:ext uri="{FF2B5EF4-FFF2-40B4-BE49-F238E27FC236}">
                <a16:creationId xmlns:a16="http://schemas.microsoft.com/office/drawing/2014/main" id="{A2803AB0-DB71-53A1-923D-DA3835B267B2}"/>
              </a:ext>
            </a:extLst>
          </p:cNvPr>
          <p:cNvSpPr>
            <a:spLocks noGrp="1"/>
          </p:cNvSpPr>
          <p:nvPr>
            <p:ph idx="1"/>
          </p:nvPr>
        </p:nvSpPr>
        <p:spPr>
          <a:xfrm>
            <a:off x="389467" y="1174750"/>
            <a:ext cx="11192933" cy="5200650"/>
          </a:xfrm>
        </p:spPr>
        <p:txBody>
          <a:bodyPr/>
          <a:lstStyle/>
          <a:p>
            <a:r>
              <a:rPr lang="en-US" dirty="0"/>
              <a:t>When an action is dispatched, Redux sends it to the reducer(s).</a:t>
            </a:r>
          </a:p>
          <a:p>
            <a:r>
              <a:rPr lang="en-US" dirty="0"/>
              <a:t>Each reducer checks the action type and decides how to update the state based on the action received.</a:t>
            </a:r>
          </a:p>
          <a:p>
            <a:r>
              <a:rPr lang="en-US" dirty="0"/>
              <a:t>The reducer does not mutate the current state but instead returns a new state object.</a:t>
            </a:r>
            <a:endParaRPr lang="en-IN" dirty="0"/>
          </a:p>
        </p:txBody>
      </p:sp>
    </p:spTree>
    <p:extLst>
      <p:ext uri="{BB962C8B-B14F-4D97-AF65-F5344CB8AC3E}">
        <p14:creationId xmlns:p14="http://schemas.microsoft.com/office/powerpoint/2010/main" val="11311037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A0F8E-C908-68BD-344C-17BD9DDAA9CA}"/>
              </a:ext>
            </a:extLst>
          </p:cNvPr>
          <p:cNvSpPr>
            <a:spLocks noGrp="1"/>
          </p:cNvSpPr>
          <p:nvPr>
            <p:ph type="title"/>
          </p:nvPr>
        </p:nvSpPr>
        <p:spPr/>
        <p:txBody>
          <a:bodyPr/>
          <a:lstStyle/>
          <a:p>
            <a:r>
              <a:rPr lang="en-IN" dirty="0"/>
              <a:t>Example of Reducer-</a:t>
            </a:r>
          </a:p>
        </p:txBody>
      </p:sp>
      <p:sp>
        <p:nvSpPr>
          <p:cNvPr id="3" name="Content Placeholder 2">
            <a:extLst>
              <a:ext uri="{FF2B5EF4-FFF2-40B4-BE49-F238E27FC236}">
                <a16:creationId xmlns:a16="http://schemas.microsoft.com/office/drawing/2014/main" id="{D114D74F-DBC2-DBDC-CF9E-54C8A273C3A2}"/>
              </a:ext>
            </a:extLst>
          </p:cNvPr>
          <p:cNvSpPr>
            <a:spLocks noGrp="1"/>
          </p:cNvSpPr>
          <p:nvPr>
            <p:ph idx="1"/>
          </p:nvPr>
        </p:nvSpPr>
        <p:spPr>
          <a:xfrm>
            <a:off x="381000" y="956733"/>
            <a:ext cx="11201400" cy="5171017"/>
          </a:xfrm>
        </p:spPr>
        <p:txBody>
          <a:bodyPr/>
          <a:lstStyle/>
          <a:p>
            <a:pPr marL="0" indent="0">
              <a:buNone/>
            </a:pPr>
            <a:r>
              <a:rPr lang="en-IN" sz="2800" dirty="0" err="1"/>
              <a:t>const</a:t>
            </a:r>
            <a:r>
              <a:rPr lang="en-IN" sz="2800" dirty="0"/>
              <a:t> </a:t>
            </a:r>
            <a:r>
              <a:rPr lang="en-IN" sz="2800" dirty="0" err="1"/>
              <a:t>initialState</a:t>
            </a:r>
            <a:r>
              <a:rPr lang="en-IN" sz="2800" dirty="0"/>
              <a:t> = { items: [] };</a:t>
            </a:r>
          </a:p>
          <a:p>
            <a:pPr marL="0" indent="0">
              <a:buNone/>
            </a:pPr>
            <a:endParaRPr lang="en-IN" sz="2800" dirty="0"/>
          </a:p>
          <a:p>
            <a:pPr marL="0" indent="0">
              <a:buNone/>
            </a:pPr>
            <a:r>
              <a:rPr lang="en-IN" sz="2800" dirty="0" err="1"/>
              <a:t>const</a:t>
            </a:r>
            <a:r>
              <a:rPr lang="en-IN" sz="2800" dirty="0"/>
              <a:t> </a:t>
            </a:r>
            <a:r>
              <a:rPr lang="en-IN" sz="2800" dirty="0" err="1"/>
              <a:t>myReducer</a:t>
            </a:r>
            <a:r>
              <a:rPr lang="en-IN" sz="2800" dirty="0"/>
              <a:t> = (state = </a:t>
            </a:r>
            <a:r>
              <a:rPr lang="en-IN" sz="2800" dirty="0" err="1"/>
              <a:t>initialState</a:t>
            </a:r>
            <a:r>
              <a:rPr lang="en-IN" sz="2800" dirty="0"/>
              <a:t>, action) =&gt; {</a:t>
            </a:r>
          </a:p>
          <a:p>
            <a:pPr marL="0" indent="0">
              <a:buNone/>
            </a:pPr>
            <a:r>
              <a:rPr lang="en-IN" sz="2800" dirty="0"/>
              <a:t>    switch (</a:t>
            </a:r>
            <a:r>
              <a:rPr lang="en-IN" sz="2800" dirty="0" err="1"/>
              <a:t>action.type</a:t>
            </a:r>
            <a:r>
              <a:rPr lang="en-IN" sz="2800" dirty="0"/>
              <a:t>) {</a:t>
            </a:r>
          </a:p>
          <a:p>
            <a:pPr marL="0" indent="0">
              <a:buNone/>
            </a:pPr>
            <a:r>
              <a:rPr lang="en-IN" sz="2800" dirty="0"/>
              <a:t>        case 'ADD_ITEM':</a:t>
            </a:r>
          </a:p>
          <a:p>
            <a:pPr marL="0" indent="0">
              <a:buNone/>
            </a:pPr>
            <a:r>
              <a:rPr lang="en-IN" sz="2800" dirty="0"/>
              <a:t>            return { ...state, items: [...</a:t>
            </a:r>
            <a:r>
              <a:rPr lang="en-IN" sz="2800" dirty="0" err="1"/>
              <a:t>state.items</a:t>
            </a:r>
            <a:r>
              <a:rPr lang="en-IN" sz="2800" dirty="0"/>
              <a:t>, </a:t>
            </a:r>
            <a:r>
              <a:rPr lang="en-IN" sz="2800" dirty="0" err="1"/>
              <a:t>action.payload</a:t>
            </a:r>
            <a:r>
              <a:rPr lang="en-IN" sz="2800" dirty="0"/>
              <a:t>] };</a:t>
            </a:r>
          </a:p>
          <a:p>
            <a:pPr marL="0" indent="0">
              <a:buNone/>
            </a:pPr>
            <a:r>
              <a:rPr lang="en-IN" sz="2800" dirty="0"/>
              <a:t>        default:</a:t>
            </a:r>
          </a:p>
          <a:p>
            <a:pPr marL="0" indent="0">
              <a:buNone/>
            </a:pPr>
            <a:r>
              <a:rPr lang="en-IN" sz="2800" dirty="0"/>
              <a:t>            return state;</a:t>
            </a:r>
          </a:p>
          <a:p>
            <a:pPr marL="0" indent="0">
              <a:buNone/>
            </a:pPr>
            <a:r>
              <a:rPr lang="en-IN" sz="2800" dirty="0"/>
              <a:t>    }</a:t>
            </a:r>
          </a:p>
          <a:p>
            <a:pPr marL="0" indent="0">
              <a:buNone/>
            </a:pPr>
            <a:r>
              <a:rPr lang="en-IN" sz="2800" dirty="0"/>
              <a:t>};</a:t>
            </a:r>
          </a:p>
          <a:p>
            <a:endParaRPr lang="en-IN" dirty="0"/>
          </a:p>
        </p:txBody>
      </p:sp>
    </p:spTree>
    <p:extLst>
      <p:ext uri="{BB962C8B-B14F-4D97-AF65-F5344CB8AC3E}">
        <p14:creationId xmlns:p14="http://schemas.microsoft.com/office/powerpoint/2010/main" val="359574265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A7150-23A5-BE91-A3FA-4CAE6DEEF644}"/>
              </a:ext>
            </a:extLst>
          </p:cNvPr>
          <p:cNvSpPr>
            <a:spLocks noGrp="1"/>
          </p:cNvSpPr>
          <p:nvPr>
            <p:ph type="title"/>
          </p:nvPr>
        </p:nvSpPr>
        <p:spPr/>
        <p:txBody>
          <a:bodyPr/>
          <a:lstStyle/>
          <a:p>
            <a:r>
              <a:rPr lang="en-IN" dirty="0"/>
              <a:t>3. </a:t>
            </a:r>
            <a:r>
              <a:rPr lang="en-US" dirty="0"/>
              <a:t>Store Updates State</a:t>
            </a:r>
            <a:br>
              <a:rPr lang="en-US" dirty="0"/>
            </a:br>
            <a:endParaRPr lang="en-IN" dirty="0"/>
          </a:p>
        </p:txBody>
      </p:sp>
      <p:sp>
        <p:nvSpPr>
          <p:cNvPr id="3" name="Content Placeholder 2">
            <a:extLst>
              <a:ext uri="{FF2B5EF4-FFF2-40B4-BE49-F238E27FC236}">
                <a16:creationId xmlns:a16="http://schemas.microsoft.com/office/drawing/2014/main" id="{C66969CB-8A37-7647-E0BE-94B38239A22B}"/>
              </a:ext>
            </a:extLst>
          </p:cNvPr>
          <p:cNvSpPr>
            <a:spLocks noGrp="1"/>
          </p:cNvSpPr>
          <p:nvPr>
            <p:ph idx="1"/>
          </p:nvPr>
        </p:nvSpPr>
        <p:spPr/>
        <p:txBody>
          <a:bodyPr/>
          <a:lstStyle/>
          <a:p>
            <a:endParaRPr lang="en-US" dirty="0"/>
          </a:p>
          <a:p>
            <a:r>
              <a:rPr lang="en-US" dirty="0"/>
              <a:t>After the reducer processes the action, the Redux store updates its state with the new state returned by the reducer.</a:t>
            </a:r>
          </a:p>
          <a:p>
            <a:r>
              <a:rPr lang="en-US" dirty="0"/>
              <a:t>The store notifies all subscribed components that the state has changed.</a:t>
            </a:r>
            <a:endParaRPr lang="en-IN" dirty="0"/>
          </a:p>
        </p:txBody>
      </p:sp>
    </p:spTree>
    <p:extLst>
      <p:ext uri="{BB962C8B-B14F-4D97-AF65-F5344CB8AC3E}">
        <p14:creationId xmlns:p14="http://schemas.microsoft.com/office/powerpoint/2010/main" val="22281474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F32ED-C1CD-CC12-369A-06FC2D99766E}"/>
              </a:ext>
            </a:extLst>
          </p:cNvPr>
          <p:cNvSpPr>
            <a:spLocks noGrp="1"/>
          </p:cNvSpPr>
          <p:nvPr>
            <p:ph type="title"/>
          </p:nvPr>
        </p:nvSpPr>
        <p:spPr/>
        <p:txBody>
          <a:bodyPr/>
          <a:lstStyle/>
          <a:p>
            <a:r>
              <a:rPr lang="en-IN" dirty="0"/>
              <a:t>4. </a:t>
            </a:r>
            <a:r>
              <a:rPr lang="en-US" dirty="0"/>
              <a:t>Components Re-render</a:t>
            </a:r>
            <a:br>
              <a:rPr lang="en-US" dirty="0"/>
            </a:br>
            <a:endParaRPr lang="en-IN" dirty="0"/>
          </a:p>
        </p:txBody>
      </p:sp>
      <p:sp>
        <p:nvSpPr>
          <p:cNvPr id="3" name="Content Placeholder 2">
            <a:extLst>
              <a:ext uri="{FF2B5EF4-FFF2-40B4-BE49-F238E27FC236}">
                <a16:creationId xmlns:a16="http://schemas.microsoft.com/office/drawing/2014/main" id="{7D94E3D0-6832-B472-A442-BBB9F7E8085F}"/>
              </a:ext>
            </a:extLst>
          </p:cNvPr>
          <p:cNvSpPr>
            <a:spLocks noGrp="1"/>
          </p:cNvSpPr>
          <p:nvPr>
            <p:ph idx="1"/>
          </p:nvPr>
        </p:nvSpPr>
        <p:spPr/>
        <p:txBody>
          <a:bodyPr/>
          <a:lstStyle/>
          <a:p>
            <a:r>
              <a:rPr lang="en-US" dirty="0"/>
              <a:t>Components that are connected to the Redux store (using </a:t>
            </a:r>
            <a:r>
              <a:rPr lang="en-US" dirty="0" err="1"/>
              <a:t>useSelector</a:t>
            </a:r>
            <a:r>
              <a:rPr lang="en-US" dirty="0"/>
              <a:t> or connect) will re-render to reflect the updated state.</a:t>
            </a:r>
          </a:p>
          <a:p>
            <a:r>
              <a:rPr lang="en-US" dirty="0"/>
              <a:t>You can use the </a:t>
            </a:r>
            <a:r>
              <a:rPr lang="en-US" dirty="0" err="1"/>
              <a:t>useSelector</a:t>
            </a:r>
            <a:r>
              <a:rPr lang="en-US" dirty="0"/>
              <a:t> hook to access the updated state in your components:</a:t>
            </a:r>
          </a:p>
          <a:p>
            <a:pPr marL="0" indent="0">
              <a:buNone/>
            </a:pPr>
            <a:endParaRPr lang="en-US" dirty="0"/>
          </a:p>
          <a:p>
            <a:pPr marL="0" indent="0">
              <a:buNone/>
            </a:pPr>
            <a:r>
              <a:rPr lang="en-US" dirty="0"/>
              <a:t>const items = </a:t>
            </a:r>
            <a:r>
              <a:rPr lang="en-US" dirty="0" err="1"/>
              <a:t>useSelector</a:t>
            </a:r>
            <a:r>
              <a:rPr lang="en-US" dirty="0"/>
              <a:t>((state) =&gt; </a:t>
            </a:r>
            <a:r>
              <a:rPr lang="en-US" dirty="0" err="1"/>
              <a:t>state.myReducer.items</a:t>
            </a:r>
            <a:r>
              <a:rPr lang="en-US" dirty="0"/>
              <a:t>);</a:t>
            </a:r>
          </a:p>
          <a:p>
            <a:endParaRPr lang="en-IN" dirty="0"/>
          </a:p>
        </p:txBody>
      </p:sp>
    </p:spTree>
    <p:extLst>
      <p:ext uri="{BB962C8B-B14F-4D97-AF65-F5344CB8AC3E}">
        <p14:creationId xmlns:p14="http://schemas.microsoft.com/office/powerpoint/2010/main" val="14866631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7FB69-4DC9-EF34-B0D1-8BE081F52CC8}"/>
              </a:ext>
            </a:extLst>
          </p:cNvPr>
          <p:cNvSpPr>
            <a:spLocks noGrp="1"/>
          </p:cNvSpPr>
          <p:nvPr>
            <p:ph type="title"/>
          </p:nvPr>
        </p:nvSpPr>
        <p:spPr/>
        <p:txBody>
          <a:bodyPr/>
          <a:lstStyle/>
          <a:p>
            <a:r>
              <a:rPr lang="en-IN" dirty="0"/>
              <a:t>5. </a:t>
            </a:r>
            <a:r>
              <a:rPr lang="en-US" dirty="0"/>
              <a:t>Repeat</a:t>
            </a:r>
            <a:br>
              <a:rPr lang="en-US" dirty="0"/>
            </a:br>
            <a:endParaRPr lang="en-IN" dirty="0"/>
          </a:p>
        </p:txBody>
      </p:sp>
      <p:sp>
        <p:nvSpPr>
          <p:cNvPr id="3" name="Content Placeholder 2">
            <a:extLst>
              <a:ext uri="{FF2B5EF4-FFF2-40B4-BE49-F238E27FC236}">
                <a16:creationId xmlns:a16="http://schemas.microsoft.com/office/drawing/2014/main" id="{CFBB704A-DFD3-2F56-A508-6F0BE870F30C}"/>
              </a:ext>
            </a:extLst>
          </p:cNvPr>
          <p:cNvSpPr>
            <a:spLocks noGrp="1"/>
          </p:cNvSpPr>
          <p:nvPr>
            <p:ph idx="1"/>
          </p:nvPr>
        </p:nvSpPr>
        <p:spPr/>
        <p:txBody>
          <a:bodyPr/>
          <a:lstStyle/>
          <a:p>
            <a:r>
              <a:rPr lang="en-US" dirty="0"/>
              <a:t>The cycle continues as the user interacts with the application, causing more actions to be dispatched, which leads to further updates in the state and component re-renders.</a:t>
            </a:r>
            <a:endParaRPr lang="en-IN" dirty="0"/>
          </a:p>
        </p:txBody>
      </p:sp>
    </p:spTree>
    <p:extLst>
      <p:ext uri="{BB962C8B-B14F-4D97-AF65-F5344CB8AC3E}">
        <p14:creationId xmlns:p14="http://schemas.microsoft.com/office/powerpoint/2010/main" val="28807392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FDE69-DC02-1D69-7E0A-AFD6F04B6495}"/>
              </a:ext>
            </a:extLst>
          </p:cNvPr>
          <p:cNvSpPr>
            <a:spLocks noGrp="1"/>
          </p:cNvSpPr>
          <p:nvPr>
            <p:ph type="title"/>
          </p:nvPr>
        </p:nvSpPr>
        <p:spPr/>
        <p:txBody>
          <a:bodyPr/>
          <a:lstStyle/>
          <a:p>
            <a:r>
              <a:rPr lang="en-IN" dirty="0"/>
              <a:t>Store and Reducer</a:t>
            </a:r>
          </a:p>
        </p:txBody>
      </p:sp>
      <p:sp>
        <p:nvSpPr>
          <p:cNvPr id="3" name="Content Placeholder 2">
            <a:extLst>
              <a:ext uri="{FF2B5EF4-FFF2-40B4-BE49-F238E27FC236}">
                <a16:creationId xmlns:a16="http://schemas.microsoft.com/office/drawing/2014/main" id="{71B9B442-DAD0-2BF9-E89A-A7EFB4B2F422}"/>
              </a:ext>
            </a:extLst>
          </p:cNvPr>
          <p:cNvSpPr>
            <a:spLocks noGrp="1"/>
          </p:cNvSpPr>
          <p:nvPr>
            <p:ph idx="1"/>
          </p:nvPr>
        </p:nvSpPr>
        <p:spPr/>
        <p:txBody>
          <a:bodyPr/>
          <a:lstStyle/>
          <a:p>
            <a:r>
              <a:rPr lang="en-US" dirty="0"/>
              <a:t>In Redux, the </a:t>
            </a:r>
            <a:r>
              <a:rPr lang="en-US" b="1" dirty="0"/>
              <a:t>store</a:t>
            </a:r>
            <a:r>
              <a:rPr lang="en-US" dirty="0"/>
              <a:t> and </a:t>
            </a:r>
            <a:r>
              <a:rPr lang="en-US" b="1" dirty="0"/>
              <a:t>reducers</a:t>
            </a:r>
            <a:r>
              <a:rPr lang="en-US" dirty="0"/>
              <a:t> are fundamental components that work together to manage the state of your application.</a:t>
            </a:r>
          </a:p>
          <a:p>
            <a:endParaRPr lang="en-IN" dirty="0"/>
          </a:p>
        </p:txBody>
      </p:sp>
    </p:spTree>
    <p:extLst>
      <p:ext uri="{BB962C8B-B14F-4D97-AF65-F5344CB8AC3E}">
        <p14:creationId xmlns:p14="http://schemas.microsoft.com/office/powerpoint/2010/main" val="25992323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86FF1-63CF-8333-E74F-1B4167D11FE1}"/>
              </a:ext>
            </a:extLst>
          </p:cNvPr>
          <p:cNvSpPr>
            <a:spLocks noGrp="1"/>
          </p:cNvSpPr>
          <p:nvPr>
            <p:ph type="title"/>
          </p:nvPr>
        </p:nvSpPr>
        <p:spPr/>
        <p:txBody>
          <a:bodyPr/>
          <a:lstStyle/>
          <a:p>
            <a:r>
              <a:rPr lang="en-US" dirty="0"/>
              <a:t>What is the Store?</a:t>
            </a:r>
            <a:br>
              <a:rPr lang="en-US" dirty="0"/>
            </a:br>
            <a:endParaRPr lang="en-IN" dirty="0"/>
          </a:p>
        </p:txBody>
      </p:sp>
      <p:sp>
        <p:nvSpPr>
          <p:cNvPr id="3" name="Content Placeholder 2">
            <a:extLst>
              <a:ext uri="{FF2B5EF4-FFF2-40B4-BE49-F238E27FC236}">
                <a16:creationId xmlns:a16="http://schemas.microsoft.com/office/drawing/2014/main" id="{76FA621F-31D2-D8AD-1BAC-858E890CA52C}"/>
              </a:ext>
            </a:extLst>
          </p:cNvPr>
          <p:cNvSpPr>
            <a:spLocks noGrp="1"/>
          </p:cNvSpPr>
          <p:nvPr>
            <p:ph idx="1"/>
          </p:nvPr>
        </p:nvSpPr>
        <p:spPr>
          <a:xfrm>
            <a:off x="609599" y="1174750"/>
            <a:ext cx="11065933" cy="5251450"/>
          </a:xfrm>
        </p:spPr>
        <p:txBody>
          <a:bodyPr/>
          <a:lstStyle/>
          <a:p>
            <a:r>
              <a:rPr lang="en-US" sz="2400" dirty="0"/>
              <a:t>The store is a central place where the entire state of your application is held. It is an object that holds the state and provides several methods for managing that state.</a:t>
            </a:r>
          </a:p>
          <a:p>
            <a:endParaRPr lang="en-US" sz="2400" dirty="0"/>
          </a:p>
          <a:p>
            <a:pPr marL="0" indent="0">
              <a:buNone/>
            </a:pPr>
            <a:r>
              <a:rPr lang="en-US" sz="2400" dirty="0"/>
              <a:t>Key Responsibilities of the Store:</a:t>
            </a:r>
          </a:p>
          <a:p>
            <a:r>
              <a:rPr lang="en-US" sz="2400" dirty="0">
                <a:solidFill>
                  <a:srgbClr val="FF0000"/>
                </a:solidFill>
              </a:rPr>
              <a:t>Holding State</a:t>
            </a:r>
            <a:r>
              <a:rPr lang="en-US" sz="2400" dirty="0"/>
              <a:t>: The store contains the application state as a single JavaScript object.</a:t>
            </a:r>
          </a:p>
          <a:p>
            <a:r>
              <a:rPr lang="en-US" sz="2400" dirty="0">
                <a:solidFill>
                  <a:srgbClr val="FF0000"/>
                </a:solidFill>
              </a:rPr>
              <a:t>Dispatching Actions: </a:t>
            </a:r>
            <a:r>
              <a:rPr lang="en-US" sz="2400" dirty="0"/>
              <a:t>The store allows you to send actions to the reducer using the dispatch method.</a:t>
            </a:r>
          </a:p>
          <a:p>
            <a:r>
              <a:rPr lang="en-US" sz="2400" dirty="0">
                <a:solidFill>
                  <a:srgbClr val="FF0000"/>
                </a:solidFill>
              </a:rPr>
              <a:t>Registering Listeners</a:t>
            </a:r>
            <a:r>
              <a:rPr lang="en-US" sz="2400" dirty="0"/>
              <a:t>: The store can subscribe to state changes, allowing components to re-render when the state updates.</a:t>
            </a:r>
          </a:p>
          <a:p>
            <a:r>
              <a:rPr lang="en-US" sz="2400" dirty="0">
                <a:solidFill>
                  <a:srgbClr val="FF0000"/>
                </a:solidFill>
              </a:rPr>
              <a:t>Accessing State: </a:t>
            </a:r>
            <a:r>
              <a:rPr lang="en-US" sz="2400" dirty="0"/>
              <a:t>The store provides a method to access the current state.</a:t>
            </a:r>
            <a:endParaRPr lang="en-IN" sz="2400" dirty="0"/>
          </a:p>
        </p:txBody>
      </p:sp>
    </p:spTree>
    <p:extLst>
      <p:ext uri="{BB962C8B-B14F-4D97-AF65-F5344CB8AC3E}">
        <p14:creationId xmlns:p14="http://schemas.microsoft.com/office/powerpoint/2010/main" val="25775593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B00D5-7866-BD79-9EE3-D1AB6CD66D6A}"/>
              </a:ext>
            </a:extLst>
          </p:cNvPr>
          <p:cNvSpPr>
            <a:spLocks noGrp="1"/>
          </p:cNvSpPr>
          <p:nvPr>
            <p:ph type="title"/>
          </p:nvPr>
        </p:nvSpPr>
        <p:spPr/>
        <p:txBody>
          <a:bodyPr/>
          <a:lstStyle/>
          <a:p>
            <a:r>
              <a:rPr lang="en-US" dirty="0"/>
              <a:t>Creating a Store</a:t>
            </a:r>
            <a:br>
              <a:rPr lang="en-US" dirty="0"/>
            </a:br>
            <a:endParaRPr lang="en-IN" dirty="0"/>
          </a:p>
        </p:txBody>
      </p:sp>
      <p:sp>
        <p:nvSpPr>
          <p:cNvPr id="3" name="Content Placeholder 2">
            <a:extLst>
              <a:ext uri="{FF2B5EF4-FFF2-40B4-BE49-F238E27FC236}">
                <a16:creationId xmlns:a16="http://schemas.microsoft.com/office/drawing/2014/main" id="{9EA9079F-0D61-253C-176B-A41A896A82A6}"/>
              </a:ext>
            </a:extLst>
          </p:cNvPr>
          <p:cNvSpPr>
            <a:spLocks noGrp="1"/>
          </p:cNvSpPr>
          <p:nvPr>
            <p:ph idx="1"/>
          </p:nvPr>
        </p:nvSpPr>
        <p:spPr>
          <a:xfrm>
            <a:off x="491067" y="1174750"/>
            <a:ext cx="11091333" cy="5353050"/>
          </a:xfrm>
        </p:spPr>
        <p:txBody>
          <a:bodyPr/>
          <a:lstStyle/>
          <a:p>
            <a:r>
              <a:rPr lang="en-US" dirty="0"/>
              <a:t>To create a store, you typically use the </a:t>
            </a:r>
            <a:r>
              <a:rPr lang="en-US" dirty="0" err="1"/>
              <a:t>createStore</a:t>
            </a:r>
            <a:r>
              <a:rPr lang="en-US" dirty="0"/>
              <a:t> function provided by Redux. Here's an example:</a:t>
            </a:r>
          </a:p>
          <a:p>
            <a:pPr marL="0" indent="0">
              <a:buNone/>
            </a:pPr>
            <a:endParaRPr lang="en-US" dirty="0"/>
          </a:p>
          <a:p>
            <a:pPr marL="0" indent="0">
              <a:buNone/>
            </a:pPr>
            <a:r>
              <a:rPr lang="en-IN" sz="2400" dirty="0"/>
              <a:t>// </a:t>
            </a:r>
            <a:r>
              <a:rPr lang="en-IN" sz="2400" dirty="0" err="1"/>
              <a:t>src</a:t>
            </a:r>
            <a:r>
              <a:rPr lang="en-IN" sz="2400" dirty="0"/>
              <a:t>/store/index.js</a:t>
            </a:r>
          </a:p>
          <a:p>
            <a:pPr marL="0" indent="0">
              <a:buNone/>
            </a:pPr>
            <a:r>
              <a:rPr lang="en-IN" sz="2400" dirty="0"/>
              <a:t>import { </a:t>
            </a:r>
            <a:r>
              <a:rPr lang="en-IN" sz="2400" dirty="0" err="1"/>
              <a:t>createStore</a:t>
            </a:r>
            <a:r>
              <a:rPr lang="en-IN" sz="2400" dirty="0"/>
              <a:t> } from 'redux';</a:t>
            </a:r>
          </a:p>
          <a:p>
            <a:pPr marL="0" indent="0">
              <a:buNone/>
            </a:pPr>
            <a:r>
              <a:rPr lang="en-IN" sz="2400" dirty="0"/>
              <a:t>import </a:t>
            </a:r>
            <a:r>
              <a:rPr lang="en-IN" sz="2400" dirty="0" err="1"/>
              <a:t>rootReducer</a:t>
            </a:r>
            <a:r>
              <a:rPr lang="en-IN" sz="2400" dirty="0"/>
              <a:t> from '../reducers'; // Import your root reducer</a:t>
            </a:r>
          </a:p>
          <a:p>
            <a:pPr marL="0" indent="0">
              <a:buNone/>
            </a:pPr>
            <a:endParaRPr lang="en-IN" sz="2400" dirty="0"/>
          </a:p>
          <a:p>
            <a:pPr marL="0" indent="0">
              <a:buNone/>
            </a:pPr>
            <a:r>
              <a:rPr lang="en-IN" sz="2400" dirty="0" err="1"/>
              <a:t>const</a:t>
            </a:r>
            <a:r>
              <a:rPr lang="en-IN" sz="2400" dirty="0"/>
              <a:t> store = </a:t>
            </a:r>
            <a:r>
              <a:rPr lang="en-IN" sz="2400" dirty="0" err="1"/>
              <a:t>createStore</a:t>
            </a:r>
            <a:r>
              <a:rPr lang="en-IN" sz="2400" dirty="0"/>
              <a:t>(</a:t>
            </a:r>
            <a:r>
              <a:rPr lang="en-IN" sz="2400" dirty="0" err="1"/>
              <a:t>rootReducer</a:t>
            </a:r>
            <a:r>
              <a:rPr lang="en-IN" sz="2400" dirty="0"/>
              <a:t>);</a:t>
            </a:r>
          </a:p>
          <a:p>
            <a:pPr marL="0" indent="0">
              <a:buNone/>
            </a:pPr>
            <a:r>
              <a:rPr lang="en-IN" sz="2400" dirty="0"/>
              <a:t>export default store;</a:t>
            </a:r>
          </a:p>
          <a:p>
            <a:pPr marL="0" indent="0">
              <a:buNone/>
            </a:pPr>
            <a:endParaRPr lang="en-IN" dirty="0"/>
          </a:p>
        </p:txBody>
      </p:sp>
    </p:spTree>
    <p:extLst>
      <p:ext uri="{BB962C8B-B14F-4D97-AF65-F5344CB8AC3E}">
        <p14:creationId xmlns:p14="http://schemas.microsoft.com/office/powerpoint/2010/main" val="29206790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C059E-D840-5745-B9FA-3EFB15F9E60F}"/>
              </a:ext>
            </a:extLst>
          </p:cNvPr>
          <p:cNvSpPr>
            <a:spLocks noGrp="1"/>
          </p:cNvSpPr>
          <p:nvPr>
            <p:ph type="title"/>
          </p:nvPr>
        </p:nvSpPr>
        <p:spPr/>
        <p:txBody>
          <a:bodyPr/>
          <a:lstStyle/>
          <a:p>
            <a:r>
              <a:rPr lang="en-IN" dirty="0"/>
              <a:t>What is a Reducer?</a:t>
            </a:r>
            <a:br>
              <a:rPr lang="en-IN" dirty="0"/>
            </a:br>
            <a:endParaRPr lang="en-IN" dirty="0"/>
          </a:p>
        </p:txBody>
      </p:sp>
      <p:sp>
        <p:nvSpPr>
          <p:cNvPr id="3" name="Content Placeholder 2">
            <a:extLst>
              <a:ext uri="{FF2B5EF4-FFF2-40B4-BE49-F238E27FC236}">
                <a16:creationId xmlns:a16="http://schemas.microsoft.com/office/drawing/2014/main" id="{0D8449A7-37B2-58D6-F8E2-0484DE54C7F9}"/>
              </a:ext>
            </a:extLst>
          </p:cNvPr>
          <p:cNvSpPr>
            <a:spLocks noGrp="1"/>
          </p:cNvSpPr>
          <p:nvPr>
            <p:ph idx="1"/>
          </p:nvPr>
        </p:nvSpPr>
        <p:spPr/>
        <p:txBody>
          <a:bodyPr/>
          <a:lstStyle/>
          <a:p>
            <a:r>
              <a:rPr lang="en-US" sz="2400" dirty="0"/>
              <a:t>A reducer is a pure function that takes the current state and an action as arguments and returns a new state. Reducers specify how the application's state changes in response to actions.</a:t>
            </a:r>
          </a:p>
          <a:p>
            <a:endParaRPr lang="en-US" sz="2400" dirty="0"/>
          </a:p>
          <a:p>
            <a:pPr marL="0" indent="0">
              <a:buNone/>
            </a:pPr>
            <a:r>
              <a:rPr lang="en-US" sz="2400" dirty="0"/>
              <a:t>Key Responsibilities of Reducers:</a:t>
            </a:r>
          </a:p>
          <a:p>
            <a:r>
              <a:rPr lang="en-US" sz="2400" dirty="0">
                <a:solidFill>
                  <a:srgbClr val="FF0000"/>
                </a:solidFill>
              </a:rPr>
              <a:t>Handling Actions: </a:t>
            </a:r>
            <a:r>
              <a:rPr lang="en-US" sz="2400" dirty="0"/>
              <a:t>Reducers listen for specific action types and determine how to update the state based on the action payload.</a:t>
            </a:r>
          </a:p>
          <a:p>
            <a:r>
              <a:rPr lang="en-US" sz="2400" dirty="0">
                <a:solidFill>
                  <a:srgbClr val="FF0000"/>
                </a:solidFill>
              </a:rPr>
              <a:t>Returning New State: </a:t>
            </a:r>
            <a:r>
              <a:rPr lang="en-US" sz="2400" dirty="0"/>
              <a:t>A reducer should always return a new state object, ensuring that the previous state remains unchanged (immutability).</a:t>
            </a:r>
          </a:p>
          <a:p>
            <a:r>
              <a:rPr lang="en-US" sz="2400" dirty="0">
                <a:solidFill>
                  <a:srgbClr val="FF0000"/>
                </a:solidFill>
              </a:rPr>
              <a:t>Managing State Shape: </a:t>
            </a:r>
            <a:r>
              <a:rPr lang="en-US" sz="2400" dirty="0"/>
              <a:t>Reducers help shape the state in a way that your application can work with efficiently.</a:t>
            </a:r>
            <a:endParaRPr lang="en-IN" sz="2400" dirty="0"/>
          </a:p>
        </p:txBody>
      </p:sp>
    </p:spTree>
    <p:extLst>
      <p:ext uri="{BB962C8B-B14F-4D97-AF65-F5344CB8AC3E}">
        <p14:creationId xmlns:p14="http://schemas.microsoft.com/office/powerpoint/2010/main" val="29312656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51231-27AD-B9DB-4B1A-2B63E89A5A96}"/>
              </a:ext>
            </a:extLst>
          </p:cNvPr>
          <p:cNvSpPr>
            <a:spLocks noGrp="1"/>
          </p:cNvSpPr>
          <p:nvPr>
            <p:ph type="title"/>
          </p:nvPr>
        </p:nvSpPr>
        <p:spPr>
          <a:xfrm>
            <a:off x="372533" y="-139700"/>
            <a:ext cx="10972800" cy="582613"/>
          </a:xfrm>
        </p:spPr>
        <p:txBody>
          <a:bodyPr/>
          <a:lstStyle/>
          <a:p>
            <a:r>
              <a:rPr lang="en-IN" dirty="0"/>
              <a:t>Writing a Reducer</a:t>
            </a:r>
          </a:p>
        </p:txBody>
      </p:sp>
      <p:sp>
        <p:nvSpPr>
          <p:cNvPr id="3" name="Content Placeholder 2">
            <a:extLst>
              <a:ext uri="{FF2B5EF4-FFF2-40B4-BE49-F238E27FC236}">
                <a16:creationId xmlns:a16="http://schemas.microsoft.com/office/drawing/2014/main" id="{1C8DDCF8-1C26-1C9E-6757-972B4BA125B9}"/>
              </a:ext>
            </a:extLst>
          </p:cNvPr>
          <p:cNvSpPr>
            <a:spLocks noGrp="1"/>
          </p:cNvSpPr>
          <p:nvPr>
            <p:ph idx="1"/>
          </p:nvPr>
        </p:nvSpPr>
        <p:spPr>
          <a:xfrm>
            <a:off x="279400" y="550333"/>
            <a:ext cx="11303000" cy="6239934"/>
          </a:xfrm>
        </p:spPr>
        <p:txBody>
          <a:bodyPr/>
          <a:lstStyle/>
          <a:p>
            <a:pPr marL="0" indent="0">
              <a:buNone/>
            </a:pPr>
            <a:r>
              <a:rPr lang="en-IN" sz="1600" dirty="0"/>
              <a:t>// </a:t>
            </a:r>
            <a:r>
              <a:rPr lang="en-IN" sz="1600" dirty="0" err="1"/>
              <a:t>src</a:t>
            </a:r>
            <a:r>
              <a:rPr lang="en-IN" sz="1600" dirty="0"/>
              <a:t>/reducers/myReducer.js</a:t>
            </a:r>
          </a:p>
          <a:p>
            <a:pPr marL="0" indent="0">
              <a:buNone/>
            </a:pPr>
            <a:r>
              <a:rPr lang="en-IN" sz="1600" dirty="0"/>
              <a:t>import { ADD_ITEM } from '../actions'; // Import action types</a:t>
            </a:r>
          </a:p>
          <a:p>
            <a:pPr marL="0" indent="0">
              <a:buNone/>
            </a:pPr>
            <a:endParaRPr lang="en-IN" sz="1600" dirty="0"/>
          </a:p>
          <a:p>
            <a:pPr marL="0" indent="0">
              <a:buNone/>
            </a:pPr>
            <a:r>
              <a:rPr lang="en-IN" sz="1600" dirty="0" err="1"/>
              <a:t>const</a:t>
            </a:r>
            <a:r>
              <a:rPr lang="en-IN" sz="1600" dirty="0"/>
              <a:t> </a:t>
            </a:r>
            <a:r>
              <a:rPr lang="en-IN" sz="1600" dirty="0" err="1"/>
              <a:t>initialState</a:t>
            </a:r>
            <a:r>
              <a:rPr lang="en-IN" sz="1600" dirty="0"/>
              <a:t> = {</a:t>
            </a:r>
          </a:p>
          <a:p>
            <a:pPr marL="0" indent="0">
              <a:buNone/>
            </a:pPr>
            <a:r>
              <a:rPr lang="en-IN" sz="1600" dirty="0"/>
              <a:t>    items: [],</a:t>
            </a:r>
          </a:p>
          <a:p>
            <a:pPr marL="0" indent="0">
              <a:buNone/>
            </a:pPr>
            <a:r>
              <a:rPr lang="en-IN" sz="1600" dirty="0"/>
              <a:t>};</a:t>
            </a:r>
          </a:p>
          <a:p>
            <a:pPr marL="0" indent="0">
              <a:buNone/>
            </a:pPr>
            <a:r>
              <a:rPr lang="en-IN" sz="1600" dirty="0" err="1"/>
              <a:t>const</a:t>
            </a:r>
            <a:r>
              <a:rPr lang="en-IN" sz="1600" dirty="0"/>
              <a:t> </a:t>
            </a:r>
            <a:r>
              <a:rPr lang="en-IN" sz="1600" dirty="0" err="1"/>
              <a:t>myReducer</a:t>
            </a:r>
            <a:r>
              <a:rPr lang="en-IN" sz="1600" dirty="0"/>
              <a:t> = (state = </a:t>
            </a:r>
            <a:r>
              <a:rPr lang="en-IN" sz="1600" dirty="0" err="1"/>
              <a:t>initialState</a:t>
            </a:r>
            <a:r>
              <a:rPr lang="en-IN" sz="1600" dirty="0"/>
              <a:t>, action) =&gt; {</a:t>
            </a:r>
          </a:p>
          <a:p>
            <a:pPr marL="0" indent="0">
              <a:buNone/>
            </a:pPr>
            <a:r>
              <a:rPr lang="en-IN" sz="1600" dirty="0"/>
              <a:t>    switch (</a:t>
            </a:r>
            <a:r>
              <a:rPr lang="en-IN" sz="1600" dirty="0" err="1"/>
              <a:t>action.type</a:t>
            </a:r>
            <a:r>
              <a:rPr lang="en-IN" sz="1600" dirty="0"/>
              <a:t>) {</a:t>
            </a:r>
          </a:p>
          <a:p>
            <a:pPr marL="0" indent="0">
              <a:buNone/>
            </a:pPr>
            <a:r>
              <a:rPr lang="en-IN" sz="1600" dirty="0"/>
              <a:t>        case ADD_ITEM:</a:t>
            </a:r>
          </a:p>
          <a:p>
            <a:pPr marL="0" indent="0">
              <a:buNone/>
            </a:pPr>
            <a:r>
              <a:rPr lang="en-IN" sz="1600" dirty="0"/>
              <a:t>            // Return a new state with the added item</a:t>
            </a:r>
          </a:p>
          <a:p>
            <a:pPr marL="0" indent="0">
              <a:buNone/>
            </a:pPr>
            <a:r>
              <a:rPr lang="en-IN" sz="1600" dirty="0"/>
              <a:t>            return {</a:t>
            </a:r>
          </a:p>
          <a:p>
            <a:pPr marL="0" indent="0">
              <a:buNone/>
            </a:pPr>
            <a:r>
              <a:rPr lang="en-IN" sz="1600" dirty="0"/>
              <a:t>                ...state, // Copy the existing state</a:t>
            </a:r>
          </a:p>
          <a:p>
            <a:pPr marL="0" indent="0">
              <a:buNone/>
            </a:pPr>
            <a:r>
              <a:rPr lang="en-IN" sz="1600" dirty="0"/>
              <a:t>                items: [...</a:t>
            </a:r>
            <a:r>
              <a:rPr lang="en-IN" sz="1600" dirty="0" err="1"/>
              <a:t>state.items</a:t>
            </a:r>
            <a:r>
              <a:rPr lang="en-IN" sz="1600" dirty="0"/>
              <a:t>, </a:t>
            </a:r>
            <a:r>
              <a:rPr lang="en-IN" sz="1600" dirty="0" err="1"/>
              <a:t>action.payload</a:t>
            </a:r>
            <a:r>
              <a:rPr lang="en-IN" sz="1600" dirty="0"/>
              <a:t>], // Add new item to the list</a:t>
            </a:r>
          </a:p>
          <a:p>
            <a:pPr marL="0" indent="0">
              <a:buNone/>
            </a:pPr>
            <a:r>
              <a:rPr lang="en-IN" sz="1600" dirty="0"/>
              <a:t>            };</a:t>
            </a:r>
          </a:p>
          <a:p>
            <a:pPr marL="0" indent="0">
              <a:buNone/>
            </a:pPr>
            <a:r>
              <a:rPr lang="en-IN" sz="1600" dirty="0"/>
              <a:t>        default:</a:t>
            </a:r>
          </a:p>
          <a:p>
            <a:pPr marL="0" indent="0">
              <a:buNone/>
            </a:pPr>
            <a:r>
              <a:rPr lang="en-IN" sz="1600" dirty="0"/>
              <a:t>            return state; // Return the current state if no action matched</a:t>
            </a:r>
          </a:p>
          <a:p>
            <a:pPr marL="0" indent="0">
              <a:buNone/>
            </a:pPr>
            <a:r>
              <a:rPr lang="en-IN" sz="1600" dirty="0"/>
              <a:t>    }</a:t>
            </a:r>
          </a:p>
          <a:p>
            <a:pPr marL="0" indent="0">
              <a:buNone/>
            </a:pPr>
            <a:r>
              <a:rPr lang="en-IN" sz="1600" dirty="0"/>
              <a:t>};</a:t>
            </a:r>
          </a:p>
          <a:p>
            <a:pPr marL="0" indent="0">
              <a:buNone/>
            </a:pPr>
            <a:endParaRPr lang="en-IN" sz="1600" dirty="0"/>
          </a:p>
          <a:p>
            <a:pPr marL="0" indent="0">
              <a:buNone/>
            </a:pPr>
            <a:r>
              <a:rPr lang="en-IN" sz="1600" dirty="0"/>
              <a:t>export default </a:t>
            </a:r>
            <a:r>
              <a:rPr lang="en-IN" sz="1600" dirty="0" err="1"/>
              <a:t>myReducer</a:t>
            </a:r>
            <a:r>
              <a:rPr lang="en-IN" sz="1600" dirty="0"/>
              <a:t>;</a:t>
            </a:r>
          </a:p>
          <a:p>
            <a:pPr marL="0" indent="0">
              <a:buNone/>
            </a:pPr>
            <a:endParaRPr lang="en-IN" sz="1400" dirty="0"/>
          </a:p>
        </p:txBody>
      </p:sp>
    </p:spTree>
    <p:extLst>
      <p:ext uri="{BB962C8B-B14F-4D97-AF65-F5344CB8AC3E}">
        <p14:creationId xmlns:p14="http://schemas.microsoft.com/office/powerpoint/2010/main" val="19528398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1B5D9-38E9-115C-ED5C-E08988BB9AF5}"/>
              </a:ext>
            </a:extLst>
          </p:cNvPr>
          <p:cNvSpPr>
            <a:spLocks noGrp="1"/>
          </p:cNvSpPr>
          <p:nvPr>
            <p:ph type="title"/>
          </p:nvPr>
        </p:nvSpPr>
        <p:spPr/>
        <p:txBody>
          <a:bodyPr/>
          <a:lstStyle/>
          <a:p>
            <a:r>
              <a:rPr lang="en-IN" dirty="0"/>
              <a:t>Combining Reducers</a:t>
            </a:r>
          </a:p>
        </p:txBody>
      </p:sp>
      <p:sp>
        <p:nvSpPr>
          <p:cNvPr id="3" name="Content Placeholder 2">
            <a:extLst>
              <a:ext uri="{FF2B5EF4-FFF2-40B4-BE49-F238E27FC236}">
                <a16:creationId xmlns:a16="http://schemas.microsoft.com/office/drawing/2014/main" id="{EEBF5623-3F77-D891-386D-0B599AF476D5}"/>
              </a:ext>
            </a:extLst>
          </p:cNvPr>
          <p:cNvSpPr>
            <a:spLocks noGrp="1"/>
          </p:cNvSpPr>
          <p:nvPr>
            <p:ph idx="1"/>
          </p:nvPr>
        </p:nvSpPr>
        <p:spPr/>
        <p:txBody>
          <a:bodyPr/>
          <a:lstStyle/>
          <a:p>
            <a:r>
              <a:rPr lang="en-US" dirty="0"/>
              <a:t>When your application grows, you might have multiple reducers managing different parts of the state. </a:t>
            </a:r>
          </a:p>
          <a:p>
            <a:r>
              <a:rPr lang="en-US" dirty="0"/>
              <a:t>You can combine these reducers </a:t>
            </a:r>
            <a:r>
              <a:rPr lang="en-US" dirty="0">
                <a:highlight>
                  <a:srgbClr val="FFFF00"/>
                </a:highlight>
              </a:rPr>
              <a:t>into a single root reducer using </a:t>
            </a:r>
            <a:r>
              <a:rPr lang="en-US" dirty="0" err="1">
                <a:solidFill>
                  <a:srgbClr val="FF0000"/>
                </a:solidFill>
                <a:highlight>
                  <a:srgbClr val="FFFF00"/>
                </a:highlight>
              </a:rPr>
              <a:t>combineReducers</a:t>
            </a:r>
            <a:r>
              <a:rPr lang="en-US" dirty="0">
                <a:highlight>
                  <a:srgbClr val="FFFF00"/>
                </a:highlight>
              </a:rPr>
              <a:t>.</a:t>
            </a:r>
            <a:endParaRPr lang="en-IN" dirty="0">
              <a:highlight>
                <a:srgbClr val="FFFF00"/>
              </a:highlight>
            </a:endParaRPr>
          </a:p>
        </p:txBody>
      </p:sp>
    </p:spTree>
    <p:extLst>
      <p:ext uri="{BB962C8B-B14F-4D97-AF65-F5344CB8AC3E}">
        <p14:creationId xmlns:p14="http://schemas.microsoft.com/office/powerpoint/2010/main" val="37907502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7E27BF-6F2C-BC9D-4992-A9D98BAAA33E}"/>
              </a:ext>
            </a:extLst>
          </p:cNvPr>
          <p:cNvSpPr>
            <a:spLocks noGrp="1"/>
          </p:cNvSpPr>
          <p:nvPr>
            <p:ph idx="1"/>
          </p:nvPr>
        </p:nvSpPr>
        <p:spPr>
          <a:xfrm>
            <a:off x="287867" y="0"/>
            <a:ext cx="11294533" cy="6127750"/>
          </a:xfrm>
        </p:spPr>
        <p:txBody>
          <a:bodyPr/>
          <a:lstStyle/>
          <a:p>
            <a:pPr marL="0" indent="0">
              <a:buNone/>
            </a:pPr>
            <a:r>
              <a:rPr lang="en-IN" dirty="0"/>
              <a:t>// </a:t>
            </a:r>
            <a:r>
              <a:rPr lang="en-IN" dirty="0" err="1"/>
              <a:t>src</a:t>
            </a:r>
            <a:r>
              <a:rPr lang="en-IN" dirty="0"/>
              <a:t>/reducers/index.js</a:t>
            </a:r>
          </a:p>
          <a:p>
            <a:pPr marL="0" indent="0">
              <a:buNone/>
            </a:pPr>
            <a:r>
              <a:rPr lang="en-IN" dirty="0"/>
              <a:t>import { </a:t>
            </a:r>
            <a:r>
              <a:rPr lang="en-IN" dirty="0" err="1"/>
              <a:t>combineReducers</a:t>
            </a:r>
            <a:r>
              <a:rPr lang="en-IN" dirty="0"/>
              <a:t> } from 'redux';</a:t>
            </a:r>
          </a:p>
          <a:p>
            <a:pPr marL="0" indent="0">
              <a:buNone/>
            </a:pPr>
            <a:r>
              <a:rPr lang="en-IN" dirty="0"/>
              <a:t>import </a:t>
            </a:r>
            <a:r>
              <a:rPr lang="en-IN" dirty="0" err="1"/>
              <a:t>myReducer</a:t>
            </a:r>
            <a:r>
              <a:rPr lang="en-IN" dirty="0"/>
              <a:t> from './</a:t>
            </a:r>
            <a:r>
              <a:rPr lang="en-IN" dirty="0" err="1"/>
              <a:t>myReducer</a:t>
            </a:r>
            <a:r>
              <a:rPr lang="en-IN" dirty="0"/>
              <a:t>'; // Import other reducers</a:t>
            </a:r>
          </a:p>
          <a:p>
            <a:pPr marL="0" indent="0">
              <a:buNone/>
            </a:pPr>
            <a:endParaRPr lang="en-IN" dirty="0"/>
          </a:p>
          <a:p>
            <a:pPr marL="0" indent="0">
              <a:buNone/>
            </a:pPr>
            <a:r>
              <a:rPr lang="en-IN" dirty="0" err="1"/>
              <a:t>const</a:t>
            </a:r>
            <a:r>
              <a:rPr lang="en-IN" dirty="0"/>
              <a:t> </a:t>
            </a:r>
            <a:r>
              <a:rPr lang="en-IN" dirty="0" err="1"/>
              <a:t>rootReducer</a:t>
            </a:r>
            <a:r>
              <a:rPr lang="en-IN" dirty="0"/>
              <a:t> = </a:t>
            </a:r>
            <a:r>
              <a:rPr lang="en-IN" dirty="0" err="1"/>
              <a:t>combineReducers</a:t>
            </a:r>
            <a:r>
              <a:rPr lang="en-IN" dirty="0"/>
              <a:t>({</a:t>
            </a:r>
          </a:p>
          <a:p>
            <a:pPr marL="0" indent="0">
              <a:buNone/>
            </a:pPr>
            <a:r>
              <a:rPr lang="en-IN" dirty="0"/>
              <a:t>    </a:t>
            </a:r>
            <a:r>
              <a:rPr lang="en-IN" dirty="0" err="1"/>
              <a:t>myReducer</a:t>
            </a:r>
            <a:r>
              <a:rPr lang="en-IN" dirty="0"/>
              <a:t>, // This will be available at </a:t>
            </a:r>
            <a:r>
              <a:rPr lang="en-IN" dirty="0" err="1"/>
              <a:t>state.myReducer</a:t>
            </a:r>
            <a:endParaRPr lang="en-IN" dirty="0"/>
          </a:p>
          <a:p>
            <a:pPr marL="0" indent="0">
              <a:buNone/>
            </a:pPr>
            <a:r>
              <a:rPr lang="en-IN" dirty="0"/>
              <a:t>    // </a:t>
            </a:r>
            <a:r>
              <a:rPr lang="en-IN" dirty="0" err="1"/>
              <a:t>otherReducer</a:t>
            </a:r>
            <a:r>
              <a:rPr lang="en-IN" dirty="0"/>
              <a:t>: </a:t>
            </a:r>
            <a:r>
              <a:rPr lang="en-IN" dirty="0" err="1"/>
              <a:t>otherReducer</a:t>
            </a:r>
            <a:r>
              <a:rPr lang="en-IN" dirty="0"/>
              <a:t>,</a:t>
            </a:r>
          </a:p>
          <a:p>
            <a:pPr marL="0" indent="0">
              <a:buNone/>
            </a:pPr>
            <a:r>
              <a:rPr lang="en-IN" dirty="0"/>
              <a:t>});</a:t>
            </a:r>
          </a:p>
          <a:p>
            <a:pPr marL="0" indent="0">
              <a:buNone/>
            </a:pPr>
            <a:endParaRPr lang="en-IN" dirty="0"/>
          </a:p>
          <a:p>
            <a:pPr marL="0" indent="0">
              <a:buNone/>
            </a:pPr>
            <a:r>
              <a:rPr lang="en-IN" dirty="0"/>
              <a:t>export default </a:t>
            </a:r>
            <a:r>
              <a:rPr lang="en-IN" dirty="0" err="1"/>
              <a:t>rootReducer</a:t>
            </a:r>
            <a:r>
              <a:rPr lang="en-IN" dirty="0"/>
              <a:t>;</a:t>
            </a:r>
          </a:p>
          <a:p>
            <a:pPr marL="0" indent="0">
              <a:buNone/>
            </a:pPr>
            <a:endParaRPr lang="en-IN" dirty="0"/>
          </a:p>
        </p:txBody>
      </p:sp>
    </p:spTree>
    <p:extLst>
      <p:ext uri="{BB962C8B-B14F-4D97-AF65-F5344CB8AC3E}">
        <p14:creationId xmlns:p14="http://schemas.microsoft.com/office/powerpoint/2010/main" val="356386357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A1E05-A3CD-D1EF-C9A7-9B0FCD3D3427}"/>
              </a:ext>
            </a:extLst>
          </p:cNvPr>
          <p:cNvSpPr>
            <a:spLocks noGrp="1"/>
          </p:cNvSpPr>
          <p:nvPr>
            <p:ph type="title"/>
          </p:nvPr>
        </p:nvSpPr>
        <p:spPr/>
        <p:txBody>
          <a:bodyPr/>
          <a:lstStyle/>
          <a:p>
            <a:r>
              <a:rPr lang="en-IN" dirty="0"/>
              <a:t>Connecting Components </a:t>
            </a:r>
          </a:p>
        </p:txBody>
      </p:sp>
      <p:sp>
        <p:nvSpPr>
          <p:cNvPr id="3" name="Content Placeholder 2">
            <a:extLst>
              <a:ext uri="{FF2B5EF4-FFF2-40B4-BE49-F238E27FC236}">
                <a16:creationId xmlns:a16="http://schemas.microsoft.com/office/drawing/2014/main" id="{FC3410BF-E393-BBE6-23C8-98DD6F037D5D}"/>
              </a:ext>
            </a:extLst>
          </p:cNvPr>
          <p:cNvSpPr>
            <a:spLocks noGrp="1"/>
          </p:cNvSpPr>
          <p:nvPr>
            <p:ph idx="1"/>
          </p:nvPr>
        </p:nvSpPr>
        <p:spPr>
          <a:xfrm>
            <a:off x="372533" y="1174750"/>
            <a:ext cx="11209867" cy="5149850"/>
          </a:xfrm>
        </p:spPr>
        <p:txBody>
          <a:bodyPr/>
          <a:lstStyle/>
          <a:p>
            <a:r>
              <a:rPr lang="en-US" dirty="0"/>
              <a:t>Connecting components to Redux is crucial for accessing and updating the Redux store within your React application. </a:t>
            </a:r>
          </a:p>
          <a:p>
            <a:r>
              <a:rPr lang="en-US" dirty="0"/>
              <a:t>In Redux, components can access the state or dispatch actions using two main approaches: the connect function (a higher-order component) and React Redux hooks (</a:t>
            </a:r>
            <a:r>
              <a:rPr lang="en-US" dirty="0" err="1"/>
              <a:t>useSelector</a:t>
            </a:r>
            <a:r>
              <a:rPr lang="en-US" dirty="0"/>
              <a:t> and </a:t>
            </a:r>
            <a:r>
              <a:rPr lang="en-US" dirty="0" err="1"/>
              <a:t>useDispatch</a:t>
            </a:r>
            <a:r>
              <a:rPr lang="en-US" dirty="0"/>
              <a:t>).</a:t>
            </a:r>
            <a:endParaRPr lang="en-IN" dirty="0"/>
          </a:p>
        </p:txBody>
      </p:sp>
    </p:spTree>
    <p:extLst>
      <p:ext uri="{BB962C8B-B14F-4D97-AF65-F5344CB8AC3E}">
        <p14:creationId xmlns:p14="http://schemas.microsoft.com/office/powerpoint/2010/main" val="28827211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FD05A-D7E6-4149-25DA-801AD20FF40D}"/>
              </a:ext>
            </a:extLst>
          </p:cNvPr>
          <p:cNvSpPr>
            <a:spLocks noGrp="1"/>
          </p:cNvSpPr>
          <p:nvPr>
            <p:ph idx="1"/>
          </p:nvPr>
        </p:nvSpPr>
        <p:spPr/>
        <p:txBody>
          <a:bodyPr/>
          <a:lstStyle/>
          <a:p>
            <a:r>
              <a:rPr lang="en-US" dirty="0"/>
              <a:t>React Redux provides hooks that allow you to access the Redux store directly in functional components. This is often the preferred method in modern applications as it’s simpler and requires less boilerplate than using connect.</a:t>
            </a:r>
          </a:p>
          <a:p>
            <a:endParaRPr lang="en-US" dirty="0"/>
          </a:p>
          <a:p>
            <a:r>
              <a:rPr lang="en-US" dirty="0" err="1">
                <a:solidFill>
                  <a:srgbClr val="FF0000"/>
                </a:solidFill>
                <a:highlight>
                  <a:srgbClr val="FFFF00"/>
                </a:highlight>
              </a:rPr>
              <a:t>useSelector</a:t>
            </a:r>
            <a:r>
              <a:rPr lang="en-US" dirty="0">
                <a:solidFill>
                  <a:srgbClr val="FF0000"/>
                </a:solidFill>
                <a:highlight>
                  <a:srgbClr val="FFFF00"/>
                </a:highlight>
              </a:rPr>
              <a:t>: </a:t>
            </a:r>
            <a:r>
              <a:rPr lang="en-US" dirty="0"/>
              <a:t>Allows you to select (or read) data from the Redux store.</a:t>
            </a:r>
          </a:p>
          <a:p>
            <a:r>
              <a:rPr lang="en-US" dirty="0" err="1">
                <a:solidFill>
                  <a:srgbClr val="FF0000"/>
                </a:solidFill>
                <a:highlight>
                  <a:srgbClr val="FFFF00"/>
                </a:highlight>
              </a:rPr>
              <a:t>useDispatch</a:t>
            </a:r>
            <a:r>
              <a:rPr lang="en-US" dirty="0">
                <a:solidFill>
                  <a:srgbClr val="FF0000"/>
                </a:solidFill>
                <a:highlight>
                  <a:srgbClr val="FFFF00"/>
                </a:highlight>
              </a:rPr>
              <a:t>: </a:t>
            </a:r>
            <a:r>
              <a:rPr lang="en-US" dirty="0"/>
              <a:t>Allows you to dispatch actions to the Redux store.</a:t>
            </a:r>
            <a:endParaRPr lang="en-IN" dirty="0"/>
          </a:p>
        </p:txBody>
      </p:sp>
      <p:sp>
        <p:nvSpPr>
          <p:cNvPr id="4" name="Rectangle 1">
            <a:extLst>
              <a:ext uri="{FF2B5EF4-FFF2-40B4-BE49-F238E27FC236}">
                <a16:creationId xmlns:a16="http://schemas.microsoft.com/office/drawing/2014/main" id="{6287AEB5-0A4D-6CA4-0015-1635195E7634}"/>
              </a:ext>
            </a:extLst>
          </p:cNvPr>
          <p:cNvSpPr>
            <a:spLocks noGrp="1" noChangeArrowheads="1"/>
          </p:cNvSpPr>
          <p:nvPr>
            <p:ph type="title"/>
          </p:nvPr>
        </p:nvSpPr>
        <p:spPr bwMode="auto">
          <a:xfrm>
            <a:off x="609599" y="241072"/>
            <a:ext cx="1075266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1. Connecting Components Using React Redux Hooks (</a:t>
            </a:r>
            <a:r>
              <a:rPr kumimoji="0" lang="en-US" altLang="en-US" sz="2400" b="1" i="0" u="none" strike="noStrike" cap="none" normalizeH="0" baseline="0" dirty="0" err="1">
                <a:ln>
                  <a:noFill/>
                </a:ln>
                <a:solidFill>
                  <a:schemeClr val="tx1"/>
                </a:solidFill>
                <a:effectLst/>
                <a:latin typeface="Arial" panose="020B0604020202020204" pitchFamily="34" charset="0"/>
              </a:rPr>
              <a:t>useSelector</a:t>
            </a:r>
            <a:r>
              <a:rPr kumimoji="0" lang="en-US" altLang="en-US" sz="2400" b="1" i="0" u="none" strike="noStrike" cap="none" normalizeH="0" baseline="0" dirty="0">
                <a:ln>
                  <a:noFill/>
                </a:ln>
                <a:solidFill>
                  <a:schemeClr val="tx1"/>
                </a:solidFill>
                <a:effectLst/>
                <a:latin typeface="Arial" panose="020B0604020202020204" pitchFamily="34" charset="0"/>
              </a:rPr>
              <a:t> and </a:t>
            </a:r>
            <a:r>
              <a:rPr kumimoji="0" lang="en-US" altLang="en-US" sz="2400" b="1" i="0" u="none" strike="noStrike" cap="none" normalizeH="0" baseline="0" dirty="0" err="1">
                <a:ln>
                  <a:noFill/>
                </a:ln>
                <a:solidFill>
                  <a:schemeClr val="tx1"/>
                </a:solidFill>
                <a:effectLst/>
                <a:latin typeface="Arial" panose="020B0604020202020204" pitchFamily="34" charset="0"/>
              </a:rPr>
              <a:t>useDispatch</a:t>
            </a:r>
            <a:r>
              <a:rPr kumimoji="0" lang="en-US" altLang="en-US" sz="2400" b="1"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7846596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1A0B5-42BB-9C62-146C-5F33C7E51DF8}"/>
              </a:ext>
            </a:extLst>
          </p:cNvPr>
          <p:cNvSpPr>
            <a:spLocks noGrp="1"/>
          </p:cNvSpPr>
          <p:nvPr>
            <p:ph type="title"/>
          </p:nvPr>
        </p:nvSpPr>
        <p:spPr>
          <a:xfrm>
            <a:off x="609600" y="659076"/>
            <a:ext cx="10972800" cy="582613"/>
          </a:xfrm>
        </p:spPr>
        <p:txBody>
          <a:bodyPr/>
          <a:lstStyle/>
          <a:p>
            <a:r>
              <a:rPr lang="en-US" sz="2800" dirty="0"/>
              <a:t>2. Connecting Components Using connect (Higher-Order Component)</a:t>
            </a:r>
            <a:r>
              <a:rPr lang="en-US" dirty="0"/>
              <a:t/>
            </a:r>
            <a:br>
              <a:rPr lang="en-US" dirty="0"/>
            </a:br>
            <a:endParaRPr lang="en-IN" dirty="0"/>
          </a:p>
        </p:txBody>
      </p:sp>
      <p:sp>
        <p:nvSpPr>
          <p:cNvPr id="3" name="Content Placeholder 2">
            <a:extLst>
              <a:ext uri="{FF2B5EF4-FFF2-40B4-BE49-F238E27FC236}">
                <a16:creationId xmlns:a16="http://schemas.microsoft.com/office/drawing/2014/main" id="{E8133C4D-13AA-D4B7-A313-888B5E06A285}"/>
              </a:ext>
            </a:extLst>
          </p:cNvPr>
          <p:cNvSpPr>
            <a:spLocks noGrp="1"/>
          </p:cNvSpPr>
          <p:nvPr>
            <p:ph idx="1"/>
          </p:nvPr>
        </p:nvSpPr>
        <p:spPr/>
        <p:txBody>
          <a:bodyPr/>
          <a:lstStyle/>
          <a:p>
            <a:r>
              <a:rPr lang="en-US" dirty="0"/>
              <a:t>connect is a function provided by React Redux that connects a component to the Redux store. This method was widely used before hooks were introduced and is still relevant for class components.</a:t>
            </a:r>
          </a:p>
          <a:p>
            <a:endParaRPr lang="en-US" dirty="0"/>
          </a:p>
          <a:p>
            <a:r>
              <a:rPr lang="en-US" dirty="0" err="1"/>
              <a:t>mapStateToProps</a:t>
            </a:r>
            <a:r>
              <a:rPr lang="en-US" dirty="0"/>
              <a:t>: Maps the Redux state to component props.</a:t>
            </a:r>
          </a:p>
          <a:p>
            <a:r>
              <a:rPr lang="en-US" dirty="0" err="1"/>
              <a:t>mapDispatchToProps</a:t>
            </a:r>
            <a:r>
              <a:rPr lang="en-US" dirty="0"/>
              <a:t>: Maps dispatch actions to component props</a:t>
            </a:r>
            <a:endParaRPr lang="en-IN" dirty="0"/>
          </a:p>
        </p:txBody>
      </p:sp>
    </p:spTree>
    <p:extLst>
      <p:ext uri="{BB962C8B-B14F-4D97-AF65-F5344CB8AC3E}">
        <p14:creationId xmlns:p14="http://schemas.microsoft.com/office/powerpoint/2010/main" val="42758769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D9DB92F-DA44-E5A9-B5E1-69B27063C635}"/>
              </a:ext>
            </a:extLst>
          </p:cNvPr>
          <p:cNvPicPr>
            <a:picLocks noGrp="1" noChangeAspect="1"/>
          </p:cNvPicPr>
          <p:nvPr>
            <p:ph idx="1"/>
          </p:nvPr>
        </p:nvPicPr>
        <p:blipFill>
          <a:blip r:embed="rId2"/>
          <a:stretch>
            <a:fillRect/>
          </a:stretch>
        </p:blipFill>
        <p:spPr>
          <a:xfrm>
            <a:off x="1320389" y="855133"/>
            <a:ext cx="9797613" cy="4014787"/>
          </a:xfrm>
        </p:spPr>
      </p:pic>
    </p:spTree>
    <p:extLst>
      <p:ext uri="{BB962C8B-B14F-4D97-AF65-F5344CB8AC3E}">
        <p14:creationId xmlns:p14="http://schemas.microsoft.com/office/powerpoint/2010/main" val="23385051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F621-DAFB-4B26-BF66-69A79F163050}"/>
              </a:ext>
            </a:extLst>
          </p:cNvPr>
          <p:cNvSpPr>
            <a:spLocks noGrp="1"/>
          </p:cNvSpPr>
          <p:nvPr>
            <p:ph type="title"/>
          </p:nvPr>
        </p:nvSpPr>
        <p:spPr>
          <a:xfrm>
            <a:off x="550333" y="592137"/>
            <a:ext cx="10972800" cy="582613"/>
          </a:xfrm>
        </p:spPr>
        <p:txBody>
          <a:bodyPr/>
          <a:lstStyle/>
          <a:p>
            <a:r>
              <a:rPr lang="en-US" dirty="0"/>
              <a:t>Which Method to Choose?</a:t>
            </a:r>
            <a:br>
              <a:rPr lang="en-US" dirty="0"/>
            </a:br>
            <a:endParaRPr lang="en-IN" dirty="0"/>
          </a:p>
        </p:txBody>
      </p:sp>
      <p:sp>
        <p:nvSpPr>
          <p:cNvPr id="3" name="Content Placeholder 2">
            <a:extLst>
              <a:ext uri="{FF2B5EF4-FFF2-40B4-BE49-F238E27FC236}">
                <a16:creationId xmlns:a16="http://schemas.microsoft.com/office/drawing/2014/main" id="{C2886AD8-27DA-F290-0A76-EF1C024DBE2C}"/>
              </a:ext>
            </a:extLst>
          </p:cNvPr>
          <p:cNvSpPr>
            <a:spLocks noGrp="1"/>
          </p:cNvSpPr>
          <p:nvPr>
            <p:ph idx="1"/>
          </p:nvPr>
        </p:nvSpPr>
        <p:spPr/>
        <p:txBody>
          <a:bodyPr/>
          <a:lstStyle/>
          <a:p>
            <a:r>
              <a:rPr lang="en-US" dirty="0"/>
              <a:t>For functional components: Use </a:t>
            </a:r>
            <a:r>
              <a:rPr lang="en-US" dirty="0" err="1"/>
              <a:t>useSelector</a:t>
            </a:r>
            <a:r>
              <a:rPr lang="en-US" dirty="0"/>
              <a:t> and </a:t>
            </a:r>
            <a:r>
              <a:rPr lang="en-US" dirty="0" err="1"/>
              <a:t>useDispatch</a:t>
            </a:r>
            <a:r>
              <a:rPr lang="en-US" dirty="0"/>
              <a:t>.</a:t>
            </a:r>
          </a:p>
          <a:p>
            <a:r>
              <a:rPr lang="en-US" dirty="0"/>
              <a:t>For class components or if you prefer traditional Redux syntax: Use connect</a:t>
            </a:r>
            <a:endParaRPr lang="en-IN" dirty="0"/>
          </a:p>
        </p:txBody>
      </p:sp>
    </p:spTree>
    <p:extLst>
      <p:ext uri="{BB962C8B-B14F-4D97-AF65-F5344CB8AC3E}">
        <p14:creationId xmlns:p14="http://schemas.microsoft.com/office/powerpoint/2010/main" val="347892354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46FC6-40C9-7070-D77E-BF52F8806DDC}"/>
              </a:ext>
            </a:extLst>
          </p:cNvPr>
          <p:cNvSpPr>
            <a:spLocks noGrp="1"/>
          </p:cNvSpPr>
          <p:nvPr>
            <p:ph type="title"/>
          </p:nvPr>
        </p:nvSpPr>
        <p:spPr/>
        <p:txBody>
          <a:bodyPr/>
          <a:lstStyle/>
          <a:p>
            <a:r>
              <a:rPr lang="en-IN" dirty="0"/>
              <a:t>Step 1:</a:t>
            </a:r>
          </a:p>
        </p:txBody>
      </p:sp>
      <p:sp>
        <p:nvSpPr>
          <p:cNvPr id="3" name="Content Placeholder 2">
            <a:extLst>
              <a:ext uri="{FF2B5EF4-FFF2-40B4-BE49-F238E27FC236}">
                <a16:creationId xmlns:a16="http://schemas.microsoft.com/office/drawing/2014/main" id="{00C099CB-1069-E43C-0A96-DA792D0CB401}"/>
              </a:ext>
            </a:extLst>
          </p:cNvPr>
          <p:cNvSpPr>
            <a:spLocks noGrp="1"/>
          </p:cNvSpPr>
          <p:nvPr>
            <p:ph idx="1"/>
          </p:nvPr>
        </p:nvSpPr>
        <p:spPr/>
        <p:txBody>
          <a:bodyPr/>
          <a:lstStyle/>
          <a:p>
            <a:pPr marL="0" indent="0">
              <a:buNone/>
            </a:pPr>
            <a:r>
              <a:rPr lang="en-US" dirty="0" err="1"/>
              <a:t>npx</a:t>
            </a:r>
            <a:r>
              <a:rPr lang="en-US" dirty="0"/>
              <a:t> create-react-app redux-</a:t>
            </a:r>
            <a:r>
              <a:rPr lang="en-US" dirty="0" err="1"/>
              <a:t>myapp</a:t>
            </a:r>
            <a:endParaRPr lang="en-US" dirty="0"/>
          </a:p>
          <a:p>
            <a:pPr marL="0" indent="0">
              <a:buNone/>
            </a:pPr>
            <a:r>
              <a:rPr lang="en-US" dirty="0"/>
              <a:t>cd redux-</a:t>
            </a:r>
            <a:r>
              <a:rPr lang="en-US" dirty="0" err="1"/>
              <a:t>myapp</a:t>
            </a:r>
            <a:endParaRPr lang="en-US" dirty="0"/>
          </a:p>
          <a:p>
            <a:pPr marL="0" indent="0">
              <a:buNone/>
            </a:pPr>
            <a:endParaRPr lang="en-IN" dirty="0"/>
          </a:p>
        </p:txBody>
      </p:sp>
    </p:spTree>
    <p:extLst>
      <p:ext uri="{BB962C8B-B14F-4D97-AF65-F5344CB8AC3E}">
        <p14:creationId xmlns:p14="http://schemas.microsoft.com/office/powerpoint/2010/main" val="161487356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902DD-50C7-C1E2-2932-11A66237FF8B}"/>
              </a:ext>
            </a:extLst>
          </p:cNvPr>
          <p:cNvSpPr>
            <a:spLocks noGrp="1"/>
          </p:cNvSpPr>
          <p:nvPr>
            <p:ph type="title"/>
          </p:nvPr>
        </p:nvSpPr>
        <p:spPr/>
        <p:txBody>
          <a:bodyPr/>
          <a:lstStyle/>
          <a:p>
            <a:r>
              <a:rPr lang="en-IN" dirty="0"/>
              <a:t>Step 2:</a:t>
            </a:r>
          </a:p>
        </p:txBody>
      </p:sp>
      <p:sp>
        <p:nvSpPr>
          <p:cNvPr id="3" name="Content Placeholder 2">
            <a:extLst>
              <a:ext uri="{FF2B5EF4-FFF2-40B4-BE49-F238E27FC236}">
                <a16:creationId xmlns:a16="http://schemas.microsoft.com/office/drawing/2014/main" id="{D678450B-5753-874C-94A5-C0617D800868}"/>
              </a:ext>
            </a:extLst>
          </p:cNvPr>
          <p:cNvSpPr>
            <a:spLocks noGrp="1"/>
          </p:cNvSpPr>
          <p:nvPr>
            <p:ph idx="1"/>
          </p:nvPr>
        </p:nvSpPr>
        <p:spPr/>
        <p:txBody>
          <a:bodyPr/>
          <a:lstStyle/>
          <a:p>
            <a:r>
              <a:rPr lang="en-US" b="1" dirty="0"/>
              <a:t>Install Redux and React-Redux</a:t>
            </a:r>
          </a:p>
          <a:p>
            <a:endParaRPr lang="en-US" dirty="0"/>
          </a:p>
          <a:p>
            <a:pPr marL="0" indent="0">
              <a:buNone/>
            </a:pPr>
            <a:r>
              <a:rPr lang="en-US" dirty="0" err="1"/>
              <a:t>npm</a:t>
            </a:r>
            <a:r>
              <a:rPr lang="en-US" dirty="0"/>
              <a:t> install redux react-redux</a:t>
            </a:r>
          </a:p>
          <a:p>
            <a:pPr marL="0" indent="0">
              <a:buNone/>
            </a:pPr>
            <a:r>
              <a:rPr lang="en-US" dirty="0" err="1"/>
              <a:t>npm</a:t>
            </a:r>
            <a:r>
              <a:rPr lang="en-US" dirty="0"/>
              <a:t> install </a:t>
            </a:r>
            <a:r>
              <a:rPr lang="en-IN" b="0" dirty="0">
                <a:solidFill>
                  <a:srgbClr val="448C27"/>
                </a:solidFill>
                <a:effectLst/>
                <a:latin typeface="Consolas" panose="020B0609020204030204" pitchFamily="49" charset="0"/>
              </a:rPr>
              <a:t>@reduxjs/toolkit</a:t>
            </a:r>
            <a:endParaRPr lang="en-IN" b="0" dirty="0">
              <a:solidFill>
                <a:srgbClr val="333333"/>
              </a:solidFill>
              <a:effectLst/>
              <a:latin typeface="Consolas" panose="020B0609020204030204" pitchFamily="49" charset="0"/>
            </a:endParaRPr>
          </a:p>
          <a:p>
            <a:pPr marL="0" indent="0">
              <a:buNone/>
            </a:pPr>
            <a:endParaRPr lang="en-US" dirty="0"/>
          </a:p>
          <a:p>
            <a:pPr marL="0" indent="0">
              <a:buNone/>
            </a:pPr>
            <a:endParaRPr lang="en-US" dirty="0"/>
          </a:p>
          <a:p>
            <a:pPr marL="0" indent="0">
              <a:buNone/>
            </a:pPr>
            <a:endParaRPr lang="en-IN" dirty="0"/>
          </a:p>
        </p:txBody>
      </p:sp>
    </p:spTree>
    <p:extLst>
      <p:ext uri="{BB962C8B-B14F-4D97-AF65-F5344CB8AC3E}">
        <p14:creationId xmlns:p14="http://schemas.microsoft.com/office/powerpoint/2010/main" val="236597327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6FF60-CA3A-0817-9A27-710A9BB5CB33}"/>
              </a:ext>
            </a:extLst>
          </p:cNvPr>
          <p:cNvSpPr>
            <a:spLocks noGrp="1"/>
          </p:cNvSpPr>
          <p:nvPr>
            <p:ph type="title"/>
          </p:nvPr>
        </p:nvSpPr>
        <p:spPr/>
        <p:txBody>
          <a:bodyPr/>
          <a:lstStyle/>
          <a:p>
            <a:r>
              <a:rPr lang="en-IN" dirty="0"/>
              <a:t>Step3- </a:t>
            </a:r>
            <a:r>
              <a:rPr lang="en-US" dirty="0"/>
              <a:t>Set Up Redux in Your Application</a:t>
            </a:r>
            <a:endParaRPr lang="en-IN" dirty="0"/>
          </a:p>
        </p:txBody>
      </p:sp>
      <p:sp>
        <p:nvSpPr>
          <p:cNvPr id="3" name="Content Placeholder 2">
            <a:extLst>
              <a:ext uri="{FF2B5EF4-FFF2-40B4-BE49-F238E27FC236}">
                <a16:creationId xmlns:a16="http://schemas.microsoft.com/office/drawing/2014/main" id="{94A64461-88F6-51C6-45A8-E929421C29EE}"/>
              </a:ext>
            </a:extLst>
          </p:cNvPr>
          <p:cNvSpPr>
            <a:spLocks noGrp="1"/>
          </p:cNvSpPr>
          <p:nvPr>
            <p:ph idx="1"/>
          </p:nvPr>
        </p:nvSpPr>
        <p:spPr/>
        <p:txBody>
          <a:bodyPr/>
          <a:lstStyle/>
          <a:p>
            <a:pPr marL="0" indent="0">
              <a:buNone/>
            </a:pPr>
            <a:r>
              <a:rPr lang="en-US" dirty="0"/>
              <a:t>1.</a:t>
            </a:r>
            <a:r>
              <a:rPr lang="en-US" dirty="0">
                <a:solidFill>
                  <a:srgbClr val="FF0000"/>
                </a:solidFill>
              </a:rPr>
              <a:t>Create a Redux Store: </a:t>
            </a:r>
            <a:r>
              <a:rPr lang="en-US" dirty="0"/>
              <a:t>Create a file named </a:t>
            </a:r>
            <a:r>
              <a:rPr lang="en-US" dirty="0">
                <a:highlight>
                  <a:srgbClr val="FFFF00"/>
                </a:highlight>
              </a:rPr>
              <a:t>store.js</a:t>
            </a:r>
            <a:r>
              <a:rPr lang="en-US" dirty="0"/>
              <a:t> in your </a:t>
            </a:r>
            <a:r>
              <a:rPr lang="en-US" dirty="0" err="1"/>
              <a:t>src</a:t>
            </a:r>
            <a:r>
              <a:rPr lang="en-US" dirty="0"/>
              <a:t> directory.</a:t>
            </a:r>
          </a:p>
          <a:p>
            <a:pPr marL="0" indent="0">
              <a:buNone/>
            </a:pPr>
            <a:endParaRPr lang="en-US" dirty="0"/>
          </a:p>
          <a:p>
            <a:pPr marL="0" indent="0">
              <a:buNone/>
            </a:pPr>
            <a:r>
              <a:rPr lang="en-US" dirty="0"/>
              <a:t>2. </a:t>
            </a:r>
            <a:r>
              <a:rPr lang="en-US" dirty="0">
                <a:solidFill>
                  <a:srgbClr val="FF0000"/>
                </a:solidFill>
              </a:rPr>
              <a:t>Create Reducers: </a:t>
            </a:r>
            <a:r>
              <a:rPr lang="en-US" dirty="0"/>
              <a:t>Create </a:t>
            </a:r>
            <a:r>
              <a:rPr lang="en-US" dirty="0">
                <a:solidFill>
                  <a:srgbClr val="FF0000"/>
                </a:solidFill>
                <a:highlight>
                  <a:srgbClr val="FFFF00"/>
                </a:highlight>
              </a:rPr>
              <a:t>a directory called reducers in </a:t>
            </a:r>
            <a:r>
              <a:rPr lang="en-US" dirty="0" err="1">
                <a:solidFill>
                  <a:srgbClr val="FF0000"/>
                </a:solidFill>
                <a:highlight>
                  <a:srgbClr val="FFFF00"/>
                </a:highlight>
              </a:rPr>
              <a:t>src</a:t>
            </a:r>
            <a:r>
              <a:rPr lang="en-US" dirty="0">
                <a:solidFill>
                  <a:srgbClr val="FF0000"/>
                </a:solidFill>
                <a:highlight>
                  <a:srgbClr val="FFFF00"/>
                </a:highlight>
              </a:rPr>
              <a:t>,</a:t>
            </a:r>
            <a:r>
              <a:rPr lang="en-US" dirty="0"/>
              <a:t> and add a reducer file.</a:t>
            </a:r>
          </a:p>
          <a:p>
            <a:pPr marL="0" indent="0">
              <a:buNone/>
            </a:pPr>
            <a:endParaRPr lang="en-US" dirty="0"/>
          </a:p>
          <a:p>
            <a:pPr marL="0" indent="0">
              <a:buNone/>
            </a:pPr>
            <a:r>
              <a:rPr lang="en-US" dirty="0"/>
              <a:t>3. </a:t>
            </a:r>
            <a:r>
              <a:rPr lang="en-US" dirty="0">
                <a:solidFill>
                  <a:srgbClr val="FF0000"/>
                </a:solidFill>
              </a:rPr>
              <a:t>Provide the Store to Your App: </a:t>
            </a:r>
            <a:r>
              <a:rPr lang="en-US" dirty="0"/>
              <a:t>Wrap your application in a Provider component from react-redux in your </a:t>
            </a:r>
            <a:r>
              <a:rPr lang="en-US" dirty="0">
                <a:solidFill>
                  <a:srgbClr val="FF0000"/>
                </a:solidFill>
              </a:rPr>
              <a:t>index.js </a:t>
            </a:r>
            <a:r>
              <a:rPr lang="en-US" dirty="0"/>
              <a:t>or </a:t>
            </a:r>
            <a:r>
              <a:rPr lang="en-US" dirty="0">
                <a:solidFill>
                  <a:srgbClr val="FF0000"/>
                </a:solidFill>
              </a:rPr>
              <a:t>App.js.</a:t>
            </a:r>
            <a:endParaRPr lang="en-IN" dirty="0">
              <a:solidFill>
                <a:srgbClr val="FF0000"/>
              </a:solidFill>
            </a:endParaRPr>
          </a:p>
        </p:txBody>
      </p:sp>
    </p:spTree>
    <p:extLst>
      <p:ext uri="{BB962C8B-B14F-4D97-AF65-F5344CB8AC3E}">
        <p14:creationId xmlns:p14="http://schemas.microsoft.com/office/powerpoint/2010/main" val="33586601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BE9A8-3D10-4B40-A10A-624FB14DC386}"/>
              </a:ext>
            </a:extLst>
          </p:cNvPr>
          <p:cNvSpPr>
            <a:spLocks noGrp="1"/>
          </p:cNvSpPr>
          <p:nvPr>
            <p:ph type="title"/>
          </p:nvPr>
        </p:nvSpPr>
        <p:spPr/>
        <p:txBody>
          <a:bodyPr/>
          <a:lstStyle/>
          <a:p>
            <a:r>
              <a:rPr lang="en-US" dirty="0"/>
              <a:t>Step 4: Using Redux in Your Components</a:t>
            </a:r>
            <a:endParaRPr lang="en-IN" dirty="0"/>
          </a:p>
        </p:txBody>
      </p:sp>
      <p:sp>
        <p:nvSpPr>
          <p:cNvPr id="3" name="Content Placeholder 2">
            <a:extLst>
              <a:ext uri="{FF2B5EF4-FFF2-40B4-BE49-F238E27FC236}">
                <a16:creationId xmlns:a16="http://schemas.microsoft.com/office/drawing/2014/main" id="{C65E1CE3-626D-DD63-57A0-AE7DFEE3295C}"/>
              </a:ext>
            </a:extLst>
          </p:cNvPr>
          <p:cNvSpPr>
            <a:spLocks noGrp="1"/>
          </p:cNvSpPr>
          <p:nvPr>
            <p:ph idx="1"/>
          </p:nvPr>
        </p:nvSpPr>
        <p:spPr/>
        <p:txBody>
          <a:bodyPr/>
          <a:lstStyle/>
          <a:p>
            <a:pPr marL="0" indent="0">
              <a:buNone/>
            </a:pPr>
            <a:r>
              <a:rPr lang="en-US" dirty="0"/>
              <a:t>Now you can use Redux in your components by utilizing the </a:t>
            </a:r>
            <a:r>
              <a:rPr lang="en-US" dirty="0" err="1">
                <a:highlight>
                  <a:srgbClr val="FFFF00"/>
                </a:highlight>
              </a:rPr>
              <a:t>useSelector</a:t>
            </a:r>
            <a:r>
              <a:rPr lang="en-US" dirty="0">
                <a:highlight>
                  <a:srgbClr val="FFFF00"/>
                </a:highlight>
              </a:rPr>
              <a:t> and </a:t>
            </a:r>
            <a:r>
              <a:rPr lang="en-US" dirty="0" err="1">
                <a:highlight>
                  <a:srgbClr val="FFFF00"/>
                </a:highlight>
              </a:rPr>
              <a:t>useDispatch</a:t>
            </a:r>
            <a:r>
              <a:rPr lang="en-US" dirty="0">
                <a:highlight>
                  <a:srgbClr val="FFFF00"/>
                </a:highlight>
              </a:rPr>
              <a:t> hooks </a:t>
            </a:r>
            <a:r>
              <a:rPr lang="en-US" dirty="0"/>
              <a:t>from react-redux.</a:t>
            </a:r>
            <a:endParaRPr lang="en-IN" dirty="0"/>
          </a:p>
        </p:txBody>
      </p:sp>
    </p:spTree>
    <p:extLst>
      <p:ext uri="{BB962C8B-B14F-4D97-AF65-F5344CB8AC3E}">
        <p14:creationId xmlns:p14="http://schemas.microsoft.com/office/powerpoint/2010/main" val="41936268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EFD66-0A47-9D77-B6B0-376042F6E14D}"/>
              </a:ext>
            </a:extLst>
          </p:cNvPr>
          <p:cNvSpPr>
            <a:spLocks noGrp="1"/>
          </p:cNvSpPr>
          <p:nvPr>
            <p:ph type="title"/>
          </p:nvPr>
        </p:nvSpPr>
        <p:spPr/>
        <p:txBody>
          <a:bodyPr/>
          <a:lstStyle/>
          <a:p>
            <a:r>
              <a:rPr lang="en-IN" dirty="0"/>
              <a:t>Debugging React Apps-</a:t>
            </a:r>
          </a:p>
        </p:txBody>
      </p:sp>
      <p:sp>
        <p:nvSpPr>
          <p:cNvPr id="3" name="Content Placeholder 2">
            <a:extLst>
              <a:ext uri="{FF2B5EF4-FFF2-40B4-BE49-F238E27FC236}">
                <a16:creationId xmlns:a16="http://schemas.microsoft.com/office/drawing/2014/main" id="{8F3D1C1A-FF5C-59FD-2887-0A1D1A2196ED}"/>
              </a:ext>
            </a:extLst>
          </p:cNvPr>
          <p:cNvSpPr>
            <a:spLocks noGrp="1"/>
          </p:cNvSpPr>
          <p:nvPr>
            <p:ph idx="1"/>
          </p:nvPr>
        </p:nvSpPr>
        <p:spPr/>
        <p:txBody>
          <a:bodyPr/>
          <a:lstStyle/>
          <a:p>
            <a:pPr marL="0" indent="0">
              <a:buNone/>
            </a:pPr>
            <a:r>
              <a:rPr lang="en-US" sz="2400" dirty="0"/>
              <a:t>1. </a:t>
            </a:r>
            <a:r>
              <a:rPr lang="en-US" sz="2400" dirty="0">
                <a:highlight>
                  <a:srgbClr val="FFFF00"/>
                </a:highlight>
              </a:rPr>
              <a:t>Use React Developer Tools:</a:t>
            </a:r>
          </a:p>
          <a:p>
            <a:pPr marL="0" indent="0">
              <a:buNone/>
            </a:pPr>
            <a:r>
              <a:rPr lang="en-US" sz="2400" dirty="0"/>
              <a:t>Install the React Developer Tools extension for Chrome or Firefox to inspect React components, their props, and state.</a:t>
            </a:r>
          </a:p>
          <a:p>
            <a:pPr marL="0" indent="0">
              <a:buNone/>
            </a:pPr>
            <a:endParaRPr lang="en-US" sz="2400" dirty="0"/>
          </a:p>
          <a:p>
            <a:pPr marL="0" indent="0">
              <a:buNone/>
            </a:pPr>
            <a:r>
              <a:rPr lang="en-US" sz="2400" dirty="0"/>
              <a:t>2. </a:t>
            </a:r>
            <a:r>
              <a:rPr lang="en-US" sz="2400" dirty="0">
                <a:highlight>
                  <a:srgbClr val="FFFF00"/>
                </a:highlight>
              </a:rPr>
              <a:t>Console Logging:</a:t>
            </a:r>
          </a:p>
          <a:p>
            <a:pPr marL="0" indent="0">
              <a:buNone/>
            </a:pPr>
            <a:r>
              <a:rPr lang="en-US" sz="2400" dirty="0"/>
              <a:t> Utilize console.log() to output values at various points in your component's lifecycle to understand where issues may arise.</a:t>
            </a:r>
          </a:p>
          <a:p>
            <a:pPr marL="0" indent="0">
              <a:buNone/>
            </a:pPr>
            <a:endParaRPr lang="en-US" sz="2400" dirty="0"/>
          </a:p>
          <a:p>
            <a:pPr marL="0" indent="0">
              <a:buNone/>
            </a:pPr>
            <a:r>
              <a:rPr lang="en-US" sz="2400" dirty="0"/>
              <a:t>3. </a:t>
            </a:r>
            <a:r>
              <a:rPr lang="en-US" sz="2400" dirty="0">
                <a:highlight>
                  <a:srgbClr val="FFFF00"/>
                </a:highlight>
              </a:rPr>
              <a:t>Error Boundaries:</a:t>
            </a:r>
          </a:p>
          <a:p>
            <a:pPr marL="0" indent="0">
              <a:buNone/>
            </a:pPr>
            <a:r>
              <a:rPr lang="en-US" sz="2400" dirty="0"/>
              <a:t>Implement error boundaries to catch JavaScript errors in the component tree, preventing crashes and providing fallback UI.</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44216728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5A9AE6-348A-A262-8997-128273E00181}"/>
              </a:ext>
            </a:extLst>
          </p:cNvPr>
          <p:cNvSpPr>
            <a:spLocks noGrp="1"/>
          </p:cNvSpPr>
          <p:nvPr>
            <p:ph idx="1"/>
          </p:nvPr>
        </p:nvSpPr>
        <p:spPr>
          <a:xfrm>
            <a:off x="214745" y="235527"/>
            <a:ext cx="11367655" cy="5892223"/>
          </a:xfrm>
        </p:spPr>
        <p:txBody>
          <a:bodyPr/>
          <a:lstStyle/>
          <a:p>
            <a:pPr marL="0" indent="0">
              <a:buNone/>
            </a:pPr>
            <a:r>
              <a:rPr lang="en-US" sz="2800" dirty="0"/>
              <a:t>4. </a:t>
            </a:r>
            <a:r>
              <a:rPr lang="en-US" sz="2800" dirty="0">
                <a:highlight>
                  <a:srgbClr val="FFFF00"/>
                </a:highlight>
              </a:rPr>
              <a:t>Use </a:t>
            </a:r>
            <a:r>
              <a:rPr lang="en-US" sz="2800" dirty="0" err="1">
                <a:highlight>
                  <a:srgbClr val="FFFF00"/>
                </a:highlight>
              </a:rPr>
              <a:t>PropTypes</a:t>
            </a:r>
            <a:r>
              <a:rPr lang="en-US" sz="2800" dirty="0">
                <a:highlight>
                  <a:srgbClr val="FFFF00"/>
                </a:highlight>
              </a:rPr>
              <a:t> or TypeScript:</a:t>
            </a:r>
          </a:p>
          <a:p>
            <a:pPr marL="0" indent="0">
              <a:buNone/>
            </a:pPr>
            <a:r>
              <a:rPr lang="en-US" sz="2800" dirty="0"/>
              <a:t>Validate props with </a:t>
            </a:r>
            <a:r>
              <a:rPr lang="en-US" sz="2800" dirty="0" err="1"/>
              <a:t>PropTypes</a:t>
            </a:r>
            <a:r>
              <a:rPr lang="en-US" sz="2800" dirty="0"/>
              <a:t> or use TypeScript for static typing. This helps catch type-related issues early.</a:t>
            </a:r>
          </a:p>
          <a:p>
            <a:pPr marL="0" indent="0">
              <a:buNone/>
            </a:pPr>
            <a:endParaRPr lang="en-US" sz="2800" dirty="0"/>
          </a:p>
          <a:p>
            <a:pPr marL="0" indent="0">
              <a:buNone/>
            </a:pPr>
            <a:r>
              <a:rPr lang="en-US" sz="2800" dirty="0"/>
              <a:t>5. </a:t>
            </a:r>
            <a:r>
              <a:rPr lang="en-US" sz="2800" dirty="0">
                <a:highlight>
                  <a:srgbClr val="FFFF00"/>
                </a:highlight>
              </a:rPr>
              <a:t>Check Dependencies:</a:t>
            </a:r>
          </a:p>
          <a:p>
            <a:pPr marL="0" indent="0">
              <a:buNone/>
            </a:pPr>
            <a:r>
              <a:rPr lang="en-US" sz="2800" dirty="0"/>
              <a:t>Ensure that all dependencies are up to date and compatible. Use tools like </a:t>
            </a:r>
            <a:r>
              <a:rPr lang="en-US" sz="2800" dirty="0" err="1"/>
              <a:t>npm</a:t>
            </a:r>
            <a:r>
              <a:rPr lang="en-US" sz="2800" dirty="0"/>
              <a:t> outdated or yarn outdated.</a:t>
            </a:r>
          </a:p>
          <a:p>
            <a:pPr marL="0" indent="0">
              <a:buNone/>
            </a:pPr>
            <a:endParaRPr lang="en-US" sz="2800" dirty="0"/>
          </a:p>
          <a:p>
            <a:pPr marL="0" indent="0">
              <a:buNone/>
            </a:pPr>
            <a:r>
              <a:rPr lang="en-US" sz="2800" dirty="0"/>
              <a:t>6. </a:t>
            </a:r>
            <a:r>
              <a:rPr lang="en-US" sz="2800" dirty="0">
                <a:highlight>
                  <a:srgbClr val="FFFF00"/>
                </a:highlight>
              </a:rPr>
              <a:t>Network and API Errors:</a:t>
            </a:r>
          </a:p>
          <a:p>
            <a:pPr marL="0" indent="0">
              <a:buNone/>
            </a:pPr>
            <a:r>
              <a:rPr lang="en-US" sz="2800" dirty="0"/>
              <a:t>Monitor network requests using the Network tab in Developer Tools. Check for failed API requests and their responses.</a:t>
            </a:r>
          </a:p>
          <a:p>
            <a:endParaRPr lang="en-IN" dirty="0"/>
          </a:p>
        </p:txBody>
      </p:sp>
    </p:spTree>
    <p:extLst>
      <p:ext uri="{BB962C8B-B14F-4D97-AF65-F5344CB8AC3E}">
        <p14:creationId xmlns:p14="http://schemas.microsoft.com/office/powerpoint/2010/main" val="28171168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601F18-8C7F-A755-DF8D-57F1AC164110}"/>
              </a:ext>
            </a:extLst>
          </p:cNvPr>
          <p:cNvSpPr>
            <a:spLocks noGrp="1"/>
          </p:cNvSpPr>
          <p:nvPr>
            <p:ph idx="1"/>
          </p:nvPr>
        </p:nvSpPr>
        <p:spPr>
          <a:xfrm>
            <a:off x="145473" y="256309"/>
            <a:ext cx="11436927" cy="5871441"/>
          </a:xfrm>
        </p:spPr>
        <p:txBody>
          <a:bodyPr/>
          <a:lstStyle/>
          <a:p>
            <a:pPr marL="0" indent="0">
              <a:buNone/>
            </a:pPr>
            <a:endParaRPr lang="en-US" sz="2800" dirty="0"/>
          </a:p>
          <a:p>
            <a:pPr marL="0" indent="0">
              <a:buNone/>
            </a:pPr>
            <a:r>
              <a:rPr lang="en-US" sz="2800" dirty="0"/>
              <a:t>7. </a:t>
            </a:r>
            <a:r>
              <a:rPr lang="en-US" sz="2800" dirty="0">
                <a:highlight>
                  <a:srgbClr val="FFFF00"/>
                </a:highlight>
              </a:rPr>
              <a:t>Debugging Hooks:</a:t>
            </a:r>
          </a:p>
          <a:p>
            <a:pPr marL="0" indent="0">
              <a:buNone/>
            </a:pPr>
            <a:r>
              <a:rPr lang="en-US" sz="2800" dirty="0"/>
              <a:t>If you’re using hooks, ensure that they are being used correctly, especially dependencies in </a:t>
            </a:r>
            <a:r>
              <a:rPr lang="en-US" sz="2800" dirty="0" err="1"/>
              <a:t>useEffect</a:t>
            </a:r>
            <a:r>
              <a:rPr lang="en-US" sz="2800" dirty="0"/>
              <a:t>. </a:t>
            </a:r>
          </a:p>
          <a:p>
            <a:pPr marL="0" indent="0">
              <a:buNone/>
            </a:pPr>
            <a:endParaRPr lang="en-US" sz="2800" dirty="0"/>
          </a:p>
          <a:p>
            <a:pPr marL="0" indent="0">
              <a:buNone/>
            </a:pPr>
            <a:r>
              <a:rPr lang="en-US" sz="2800" dirty="0"/>
              <a:t>8. </a:t>
            </a:r>
            <a:r>
              <a:rPr lang="en-US" sz="2800" dirty="0">
                <a:highlight>
                  <a:srgbClr val="FFFF00"/>
                </a:highlight>
              </a:rPr>
              <a:t>Linting:</a:t>
            </a:r>
          </a:p>
          <a:p>
            <a:pPr marL="0" indent="0">
              <a:buNone/>
            </a:pPr>
            <a:r>
              <a:rPr lang="en-US" sz="2800" dirty="0"/>
              <a:t>Use </a:t>
            </a:r>
            <a:r>
              <a:rPr lang="en-US" sz="2800" dirty="0" err="1"/>
              <a:t>ESLint</a:t>
            </a:r>
            <a:r>
              <a:rPr lang="en-US" sz="2800" dirty="0"/>
              <a:t> with recommended React rules to catch potential issues and enforce coding standards.</a:t>
            </a:r>
          </a:p>
          <a:p>
            <a:pPr marL="0" indent="0">
              <a:buNone/>
            </a:pPr>
            <a:endParaRPr lang="en-US" sz="2800" dirty="0"/>
          </a:p>
          <a:p>
            <a:pPr marL="0" indent="0">
              <a:buNone/>
            </a:pPr>
            <a:r>
              <a:rPr lang="en-US" sz="2800" dirty="0"/>
              <a:t>9. </a:t>
            </a:r>
            <a:r>
              <a:rPr lang="en-US" sz="2800" dirty="0">
                <a:highlight>
                  <a:srgbClr val="FFFF00"/>
                </a:highlight>
              </a:rPr>
              <a:t>Unit and Integration Tests:</a:t>
            </a:r>
          </a:p>
          <a:p>
            <a:pPr marL="0" indent="0">
              <a:buNone/>
            </a:pPr>
            <a:r>
              <a:rPr lang="en-US" sz="2800" dirty="0"/>
              <a:t>Write tests using Jest and React Testing Library to cover critical components and functionality.</a:t>
            </a:r>
            <a:endParaRPr lang="en-IN" sz="2800" dirty="0"/>
          </a:p>
        </p:txBody>
      </p:sp>
    </p:spTree>
    <p:extLst>
      <p:ext uri="{BB962C8B-B14F-4D97-AF65-F5344CB8AC3E}">
        <p14:creationId xmlns:p14="http://schemas.microsoft.com/office/powerpoint/2010/main" val="274240548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B63A-4A41-F616-9755-DDC5A59E05DD}"/>
              </a:ext>
            </a:extLst>
          </p:cNvPr>
          <p:cNvSpPr>
            <a:spLocks noGrp="1"/>
          </p:cNvSpPr>
          <p:nvPr>
            <p:ph type="title"/>
          </p:nvPr>
        </p:nvSpPr>
        <p:spPr/>
        <p:txBody>
          <a:bodyPr/>
          <a:lstStyle/>
          <a:p>
            <a:r>
              <a:rPr lang="en-IN" dirty="0"/>
              <a:t>Building the App</a:t>
            </a:r>
          </a:p>
        </p:txBody>
      </p:sp>
      <p:sp>
        <p:nvSpPr>
          <p:cNvPr id="3" name="Content Placeholder 2">
            <a:extLst>
              <a:ext uri="{FF2B5EF4-FFF2-40B4-BE49-F238E27FC236}">
                <a16:creationId xmlns:a16="http://schemas.microsoft.com/office/drawing/2014/main" id="{2B6D29A0-D3EA-54F8-CF73-12BE44EE9753}"/>
              </a:ext>
            </a:extLst>
          </p:cNvPr>
          <p:cNvSpPr>
            <a:spLocks noGrp="1"/>
          </p:cNvSpPr>
          <p:nvPr>
            <p:ph idx="1"/>
          </p:nvPr>
        </p:nvSpPr>
        <p:spPr>
          <a:xfrm>
            <a:off x="415636" y="773113"/>
            <a:ext cx="11166764" cy="5354637"/>
          </a:xfrm>
        </p:spPr>
        <p:txBody>
          <a:bodyPr/>
          <a:lstStyle/>
          <a:p>
            <a:pPr marL="0" indent="0">
              <a:buNone/>
            </a:pPr>
            <a:r>
              <a:rPr lang="en-US" sz="2000" dirty="0"/>
              <a:t>1. </a:t>
            </a:r>
            <a:r>
              <a:rPr lang="en-US" sz="2000" dirty="0">
                <a:highlight>
                  <a:srgbClr val="FFFF00"/>
                </a:highlight>
              </a:rPr>
              <a:t>Environment Variables:</a:t>
            </a:r>
          </a:p>
          <a:p>
            <a:pPr marL="0" indent="0">
              <a:buNone/>
            </a:pPr>
            <a:r>
              <a:rPr lang="en-US" sz="2000" dirty="0"/>
              <a:t>Use environment variables to manage configuration for different environments (development, testing, production).</a:t>
            </a:r>
          </a:p>
          <a:p>
            <a:pPr marL="0" indent="0">
              <a:buNone/>
            </a:pPr>
            <a:endParaRPr lang="en-US" sz="2000" dirty="0"/>
          </a:p>
          <a:p>
            <a:pPr marL="0" indent="0">
              <a:buNone/>
            </a:pPr>
            <a:r>
              <a:rPr lang="en-US" sz="2000" dirty="0"/>
              <a:t>2. </a:t>
            </a:r>
            <a:r>
              <a:rPr lang="en-US" sz="2000" dirty="0">
                <a:highlight>
                  <a:srgbClr val="FFFF00"/>
                </a:highlight>
              </a:rPr>
              <a:t>Optimization:</a:t>
            </a:r>
          </a:p>
          <a:p>
            <a:pPr marL="0" indent="0">
              <a:buNone/>
            </a:pPr>
            <a:r>
              <a:rPr lang="en-US" sz="2000" dirty="0"/>
              <a:t>Use the production build commands (e.g., </a:t>
            </a:r>
            <a:r>
              <a:rPr lang="en-US" sz="2000" dirty="0" err="1"/>
              <a:t>npm</a:t>
            </a:r>
            <a:r>
              <a:rPr lang="en-US" sz="2000" dirty="0"/>
              <a:t> run build ) which automatically minify and optimize your code.</a:t>
            </a:r>
          </a:p>
          <a:p>
            <a:pPr marL="0" indent="0">
              <a:buNone/>
            </a:pPr>
            <a:endParaRPr lang="en-US" sz="2000" dirty="0"/>
          </a:p>
          <a:p>
            <a:pPr marL="0" indent="0">
              <a:buNone/>
            </a:pPr>
            <a:r>
              <a:rPr lang="en-US" sz="2000" dirty="0"/>
              <a:t>3. </a:t>
            </a:r>
            <a:r>
              <a:rPr lang="en-US" sz="2000" dirty="0">
                <a:highlight>
                  <a:srgbClr val="FFFF00"/>
                </a:highlight>
              </a:rPr>
              <a:t>Tree Shaking:</a:t>
            </a:r>
          </a:p>
          <a:p>
            <a:pPr marL="0" indent="0">
              <a:buNone/>
            </a:pPr>
            <a:r>
              <a:rPr lang="en-US" sz="2000" dirty="0"/>
              <a:t>Ensure that your build tool (like Webpack) is set up to remove unused code.</a:t>
            </a:r>
          </a:p>
          <a:p>
            <a:pPr marL="0" indent="0">
              <a:buNone/>
            </a:pPr>
            <a:endParaRPr lang="en-US" sz="2000" dirty="0"/>
          </a:p>
          <a:p>
            <a:pPr marL="0" indent="0">
              <a:buNone/>
            </a:pPr>
            <a:r>
              <a:rPr lang="en-US" sz="2000" dirty="0"/>
              <a:t>4. </a:t>
            </a:r>
            <a:r>
              <a:rPr lang="en-US" sz="2000" dirty="0">
                <a:highlight>
                  <a:srgbClr val="FFFF00"/>
                </a:highlight>
              </a:rPr>
              <a:t>Code Splitting:</a:t>
            </a:r>
          </a:p>
          <a:p>
            <a:pPr marL="0" indent="0">
              <a:buNone/>
            </a:pPr>
            <a:r>
              <a:rPr lang="en-US" sz="2000" dirty="0"/>
              <a:t>   - Implement dynamic imports to split your code into smaller chunks, improving load time.</a:t>
            </a:r>
          </a:p>
          <a:p>
            <a:pPr marL="0" indent="0">
              <a:buNone/>
            </a:pPr>
            <a:endParaRPr lang="en-US" sz="2000" dirty="0"/>
          </a:p>
          <a:p>
            <a:pPr marL="0" indent="0">
              <a:buNone/>
            </a:pPr>
            <a:r>
              <a:rPr lang="en-US" sz="2000" dirty="0"/>
              <a:t>5. </a:t>
            </a:r>
            <a:r>
              <a:rPr lang="en-US" sz="2000" dirty="0">
                <a:highlight>
                  <a:srgbClr val="FFFF00"/>
                </a:highlight>
              </a:rPr>
              <a:t>Analyze Build Size:</a:t>
            </a:r>
          </a:p>
          <a:p>
            <a:pPr marL="0" indent="0">
              <a:buNone/>
            </a:pPr>
            <a:r>
              <a:rPr lang="en-US" sz="2000" dirty="0"/>
              <a:t>   - Use tools like Webpack Bundle Analyzer to visualize the size of your output files and identify large dependencies.</a:t>
            </a:r>
            <a:endParaRPr lang="en-IN" sz="2000" dirty="0"/>
          </a:p>
        </p:txBody>
      </p:sp>
    </p:spTree>
    <p:extLst>
      <p:ext uri="{BB962C8B-B14F-4D97-AF65-F5344CB8AC3E}">
        <p14:creationId xmlns:p14="http://schemas.microsoft.com/office/powerpoint/2010/main" val="34376502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FEAD0-516E-DDE3-B26B-5CD9A3E3F432}"/>
              </a:ext>
            </a:extLst>
          </p:cNvPr>
          <p:cNvSpPr>
            <a:spLocks noGrp="1"/>
          </p:cNvSpPr>
          <p:nvPr>
            <p:ph type="title"/>
          </p:nvPr>
        </p:nvSpPr>
        <p:spPr/>
        <p:txBody>
          <a:bodyPr/>
          <a:lstStyle/>
          <a:p>
            <a:r>
              <a:rPr lang="en-IN" dirty="0"/>
              <a:t>Best Practices for Deployment</a:t>
            </a:r>
          </a:p>
        </p:txBody>
      </p:sp>
      <p:sp>
        <p:nvSpPr>
          <p:cNvPr id="3" name="Content Placeholder 2">
            <a:extLst>
              <a:ext uri="{FF2B5EF4-FFF2-40B4-BE49-F238E27FC236}">
                <a16:creationId xmlns:a16="http://schemas.microsoft.com/office/drawing/2014/main" id="{1EA367CE-D77B-20B0-A910-6D61F45827BD}"/>
              </a:ext>
            </a:extLst>
          </p:cNvPr>
          <p:cNvSpPr>
            <a:spLocks noGrp="1"/>
          </p:cNvSpPr>
          <p:nvPr>
            <p:ph idx="1"/>
          </p:nvPr>
        </p:nvSpPr>
        <p:spPr>
          <a:xfrm>
            <a:off x="304800" y="773113"/>
            <a:ext cx="11277600" cy="5513387"/>
          </a:xfrm>
        </p:spPr>
        <p:txBody>
          <a:bodyPr/>
          <a:lstStyle/>
          <a:p>
            <a:pPr marL="0" indent="0">
              <a:buNone/>
            </a:pPr>
            <a:r>
              <a:rPr lang="en-US" sz="2400" dirty="0" smtClean="0"/>
              <a:t>1</a:t>
            </a:r>
            <a:r>
              <a:rPr lang="en-US" sz="2400" dirty="0"/>
              <a:t>. </a:t>
            </a:r>
            <a:r>
              <a:rPr lang="en-US" sz="2400" dirty="0">
                <a:highlight>
                  <a:srgbClr val="FFFF00"/>
                </a:highlight>
              </a:rPr>
              <a:t>Choose a Hosting Service</a:t>
            </a:r>
            <a:r>
              <a:rPr lang="en-US" sz="2400" dirty="0"/>
              <a:t>:</a:t>
            </a:r>
          </a:p>
          <a:p>
            <a:pPr marL="0" indent="0">
              <a:buNone/>
            </a:pPr>
            <a:r>
              <a:rPr lang="en-US" sz="2400" dirty="0"/>
              <a:t>Select a suitable hosting service (e.g., </a:t>
            </a:r>
            <a:r>
              <a:rPr lang="en-US" sz="2400" dirty="0" err="1"/>
              <a:t>Vercel</a:t>
            </a:r>
            <a:r>
              <a:rPr lang="en-US" sz="2400" dirty="0"/>
              <a:t>, Netlify, AWS Amplify) that simplifies deployment for React apps.</a:t>
            </a:r>
          </a:p>
          <a:p>
            <a:pPr marL="0" indent="0">
              <a:buNone/>
            </a:pPr>
            <a:r>
              <a:rPr lang="en-US" sz="2400" dirty="0" smtClean="0"/>
              <a:t>2</a:t>
            </a:r>
            <a:r>
              <a:rPr lang="en-US" sz="2400" dirty="0"/>
              <a:t>. </a:t>
            </a:r>
            <a:r>
              <a:rPr lang="en-US" sz="2400" dirty="0">
                <a:highlight>
                  <a:srgbClr val="FFFF00"/>
                </a:highlight>
              </a:rPr>
              <a:t>Automated CI/CD:</a:t>
            </a:r>
          </a:p>
          <a:p>
            <a:pPr marL="0" indent="0">
              <a:buNone/>
            </a:pPr>
            <a:r>
              <a:rPr lang="en-US" sz="2400" dirty="0"/>
              <a:t>Implement Continuous Integration and Continuous Deployment (CI/CD) using services like GitHub Actions, </a:t>
            </a:r>
            <a:r>
              <a:rPr lang="en-US" sz="2400" dirty="0" err="1"/>
              <a:t>CircleCI</a:t>
            </a:r>
            <a:r>
              <a:rPr lang="en-US" sz="2400" dirty="0"/>
              <a:t>, or Travis CI to automate testing and deployment processes.</a:t>
            </a:r>
          </a:p>
          <a:p>
            <a:pPr marL="0" indent="0">
              <a:buNone/>
            </a:pPr>
            <a:r>
              <a:rPr lang="en-US" sz="2400" dirty="0" smtClean="0"/>
              <a:t>3</a:t>
            </a:r>
            <a:r>
              <a:rPr lang="en-US" sz="2400" dirty="0"/>
              <a:t>. </a:t>
            </a:r>
            <a:r>
              <a:rPr lang="en-US" sz="2400" dirty="0">
                <a:highlight>
                  <a:srgbClr val="FFFF00"/>
                </a:highlight>
              </a:rPr>
              <a:t>**HTTPS and Security**:</a:t>
            </a:r>
          </a:p>
          <a:p>
            <a:pPr marL="0" indent="0">
              <a:buNone/>
            </a:pPr>
            <a:r>
              <a:rPr lang="en-US" sz="2400" dirty="0"/>
              <a:t>   - Ensure that your application is served over HTTPS. Use security headers to protect against common vulnerabilities</a:t>
            </a:r>
            <a:r>
              <a:rPr lang="en-US" sz="2400" dirty="0" smtClean="0"/>
              <a:t>.</a:t>
            </a:r>
            <a:endParaRPr lang="en-US" sz="2400" dirty="0"/>
          </a:p>
          <a:p>
            <a:pPr marL="0" indent="0">
              <a:buNone/>
            </a:pPr>
            <a:r>
              <a:rPr lang="en-US" sz="2400" dirty="0"/>
              <a:t>4. </a:t>
            </a:r>
            <a:r>
              <a:rPr lang="en-US" sz="2400" dirty="0">
                <a:highlight>
                  <a:srgbClr val="FFFF00"/>
                </a:highlight>
              </a:rPr>
              <a:t>**Performance Monitoring**:</a:t>
            </a:r>
          </a:p>
          <a:p>
            <a:pPr marL="0" indent="0">
              <a:buNone/>
            </a:pPr>
            <a:r>
              <a:rPr lang="en-US" sz="2400" dirty="0"/>
              <a:t>   - Use tools like Google Lighthouse to assess your app's performance, accessibility, and SEO before deployment.</a:t>
            </a:r>
          </a:p>
        </p:txBody>
      </p:sp>
    </p:spTree>
    <p:extLst>
      <p:ext uri="{BB962C8B-B14F-4D97-AF65-F5344CB8AC3E}">
        <p14:creationId xmlns:p14="http://schemas.microsoft.com/office/powerpoint/2010/main" val="274653215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B2C78-C1CA-8D4E-84CB-1B14F89B51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358F28-983C-B535-B0D9-07DDE1B4988C}"/>
              </a:ext>
            </a:extLst>
          </p:cNvPr>
          <p:cNvSpPr>
            <a:spLocks noGrp="1"/>
          </p:cNvSpPr>
          <p:nvPr>
            <p:ph type="title"/>
          </p:nvPr>
        </p:nvSpPr>
        <p:spPr/>
        <p:txBody>
          <a:bodyPr/>
          <a:lstStyle/>
          <a:p>
            <a:r>
              <a:rPr lang="en-IN" dirty="0"/>
              <a:t>Best Practices for Deployment</a:t>
            </a:r>
          </a:p>
        </p:txBody>
      </p:sp>
      <p:sp>
        <p:nvSpPr>
          <p:cNvPr id="3" name="Content Placeholder 2">
            <a:extLst>
              <a:ext uri="{FF2B5EF4-FFF2-40B4-BE49-F238E27FC236}">
                <a16:creationId xmlns:a16="http://schemas.microsoft.com/office/drawing/2014/main" id="{1CFD97B7-8DE4-755E-3AF1-94D1CA8FEC8F}"/>
              </a:ext>
            </a:extLst>
          </p:cNvPr>
          <p:cNvSpPr>
            <a:spLocks noGrp="1"/>
          </p:cNvSpPr>
          <p:nvPr>
            <p:ph idx="1"/>
          </p:nvPr>
        </p:nvSpPr>
        <p:spPr/>
        <p:txBody>
          <a:bodyPr/>
          <a:lstStyle/>
          <a:p>
            <a:pPr marL="0" indent="0">
              <a:buNone/>
            </a:pPr>
            <a:r>
              <a:rPr lang="en-US" sz="2800" dirty="0"/>
              <a:t>5. </a:t>
            </a:r>
            <a:r>
              <a:rPr lang="en-US" sz="2800" dirty="0">
                <a:highlight>
                  <a:srgbClr val="FFFF00"/>
                </a:highlight>
              </a:rPr>
              <a:t>Cache Busting</a:t>
            </a:r>
            <a:r>
              <a:rPr lang="en-US" sz="2800" dirty="0"/>
              <a:t>:</a:t>
            </a:r>
          </a:p>
          <a:p>
            <a:pPr marL="0" indent="0">
              <a:buNone/>
            </a:pPr>
            <a:r>
              <a:rPr lang="en-US" sz="2800" dirty="0"/>
              <a:t>Implement cache busting strategies (e.g., hashed filenames) to ensure users always receive the latest version of your assets.</a:t>
            </a:r>
          </a:p>
          <a:p>
            <a:pPr marL="0" indent="0">
              <a:buNone/>
            </a:pPr>
            <a:endParaRPr lang="en-US" sz="2800" dirty="0"/>
          </a:p>
          <a:p>
            <a:pPr marL="0" indent="0">
              <a:buNone/>
            </a:pPr>
            <a:r>
              <a:rPr lang="en-US" sz="2800" dirty="0"/>
              <a:t>6.</a:t>
            </a:r>
            <a:r>
              <a:rPr lang="en-US" sz="2800" dirty="0">
                <a:highlight>
                  <a:srgbClr val="FFFF00"/>
                </a:highlight>
              </a:rPr>
              <a:t>Rollback Strategy:</a:t>
            </a:r>
          </a:p>
          <a:p>
            <a:pPr marL="0" indent="0">
              <a:buNone/>
            </a:pPr>
            <a:r>
              <a:rPr lang="en-US" sz="2800" dirty="0"/>
              <a:t>Have a rollback strategy in place to revert to a previous stable version in case of a deployment failure.</a:t>
            </a:r>
          </a:p>
          <a:p>
            <a:pPr marL="0" indent="0">
              <a:buNone/>
            </a:pPr>
            <a:endParaRPr lang="en-US" sz="2800" dirty="0"/>
          </a:p>
          <a:p>
            <a:pPr marL="0" indent="0">
              <a:buNone/>
            </a:pPr>
            <a:r>
              <a:rPr lang="en-US" sz="2800" dirty="0"/>
              <a:t>7. </a:t>
            </a:r>
            <a:r>
              <a:rPr lang="en-US" sz="2800" dirty="0">
                <a:highlight>
                  <a:srgbClr val="FFFF00"/>
                </a:highlight>
              </a:rPr>
              <a:t>Monitoring and Logging</a:t>
            </a:r>
            <a:r>
              <a:rPr lang="en-US" sz="2800" dirty="0"/>
              <a:t>:</a:t>
            </a:r>
            <a:br>
              <a:rPr lang="en-US" sz="2800" dirty="0"/>
            </a:br>
            <a:r>
              <a:rPr lang="en-US" sz="2800" dirty="0"/>
              <a:t> Set up monitoring and logging (e.g., using Sentry or </a:t>
            </a:r>
            <a:r>
              <a:rPr lang="en-US" sz="2800" dirty="0" err="1"/>
              <a:t>LogRocket</a:t>
            </a:r>
            <a:r>
              <a:rPr lang="en-US" sz="2800" dirty="0"/>
              <a:t>) to track errors and performance issues in production</a:t>
            </a:r>
            <a:endParaRPr lang="en-IN" sz="2800" dirty="0"/>
          </a:p>
          <a:p>
            <a:pPr marL="0" indent="0">
              <a:buNone/>
            </a:pPr>
            <a:endParaRPr lang="en-US" dirty="0"/>
          </a:p>
        </p:txBody>
      </p:sp>
    </p:spTree>
    <p:extLst>
      <p:ext uri="{BB962C8B-B14F-4D97-AF65-F5344CB8AC3E}">
        <p14:creationId xmlns:p14="http://schemas.microsoft.com/office/powerpoint/2010/main" val="3860749927"/>
      </p:ext>
    </p:extLst>
  </p:cSld>
  <p:clrMapOvr>
    <a:masterClrMapping/>
  </p:clrMapOvr>
  <p:timing>
    <p:tnLst>
      <p:par>
        <p:cTn id="1" dur="indefinite" restart="never" nodeType="tmRoot"/>
      </p:par>
    </p:tnLst>
  </p:timing>
</p:sld>
</file>

<file path=ppt/theme/theme1.xml><?xml version="1.0" encoding="utf-8"?>
<a:theme xmlns:a="http://schemas.openxmlformats.org/drawingml/2006/main" name="Gear Drives">
  <a:themeElements>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fontScheme name="Gear Dri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itchFamily="2" charset="-122"/>
          </a:defRPr>
        </a:defPPr>
      </a:lstStyle>
    </a:lnDef>
  </a:objectDefaults>
  <a:extraClrSchemeLst>
    <a:extraClrScheme>
      <a:clrScheme name="Gear Dri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ar Dri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ar Dri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ar Dri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ar Dri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ar Dri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ar Dri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ar Dri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ar Dri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ar Dri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ar Dri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ar Dri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Gear Drives 13">
        <a:dk1>
          <a:srgbClr val="000000"/>
        </a:dk1>
        <a:lt1>
          <a:srgbClr val="FFFFFF"/>
        </a:lt1>
        <a:dk2>
          <a:srgbClr val="000000"/>
        </a:dk2>
        <a:lt2>
          <a:srgbClr val="969696"/>
        </a:lt2>
        <a:accent1>
          <a:srgbClr val="5F5F5F"/>
        </a:accent1>
        <a:accent2>
          <a:srgbClr val="969696"/>
        </a:accent2>
        <a:accent3>
          <a:srgbClr val="FFFFFF"/>
        </a:accent3>
        <a:accent4>
          <a:srgbClr val="000000"/>
        </a:accent4>
        <a:accent5>
          <a:srgbClr val="B6B6B6"/>
        </a:accent5>
        <a:accent6>
          <a:srgbClr val="87878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1410</TotalTime>
  <Words>2279</Words>
  <Application>Microsoft Office PowerPoint</Application>
  <PresentationFormat>Widescreen</PresentationFormat>
  <Paragraphs>267</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SimSun</vt:lpstr>
      <vt:lpstr>Arial</vt:lpstr>
      <vt:lpstr>Arial Bold</vt:lpstr>
      <vt:lpstr>Consolas</vt:lpstr>
      <vt:lpstr>Gear Drives</vt:lpstr>
      <vt:lpstr>Unit 6</vt:lpstr>
      <vt:lpstr>Redux  </vt:lpstr>
      <vt:lpstr>1. Store</vt:lpstr>
      <vt:lpstr>2. Actions</vt:lpstr>
      <vt:lpstr>Example-</vt:lpstr>
      <vt:lpstr>3. Reducers</vt:lpstr>
      <vt:lpstr>Example of Reducer</vt:lpstr>
      <vt:lpstr>4. Dispatch</vt:lpstr>
      <vt:lpstr>Example of Dispatching an action</vt:lpstr>
      <vt:lpstr>5. Selectors </vt:lpstr>
      <vt:lpstr>Example of Selectors</vt:lpstr>
      <vt:lpstr>6. Middleware</vt:lpstr>
      <vt:lpstr>7.React-Redux</vt:lpstr>
      <vt:lpstr>Example</vt:lpstr>
      <vt:lpstr>Understanding Redux Flow</vt:lpstr>
      <vt:lpstr>Redux Flow Steps</vt:lpstr>
      <vt:lpstr>2. Reducer Receives Action </vt:lpstr>
      <vt:lpstr>Example of Reducer-</vt:lpstr>
      <vt:lpstr>3. Store Updates State </vt:lpstr>
      <vt:lpstr>4. Components Re-render </vt:lpstr>
      <vt:lpstr>5. Repeat </vt:lpstr>
      <vt:lpstr>Store and Reducer</vt:lpstr>
      <vt:lpstr>What is the Store? </vt:lpstr>
      <vt:lpstr>Creating a Store </vt:lpstr>
      <vt:lpstr>What is a Reducer? </vt:lpstr>
      <vt:lpstr>Writing a Reducer</vt:lpstr>
      <vt:lpstr>Combining Reducers</vt:lpstr>
      <vt:lpstr>PowerPoint Presentation</vt:lpstr>
      <vt:lpstr>Connecting Components </vt:lpstr>
      <vt:lpstr>1. Connecting Components Using React Redux Hooks (useSelector and useDispatch)</vt:lpstr>
      <vt:lpstr>2. Connecting Components Using connect (Higher-Order Component) </vt:lpstr>
      <vt:lpstr>PowerPoint Presentation</vt:lpstr>
      <vt:lpstr>Which Method to Choose? </vt:lpstr>
      <vt:lpstr>Step 1:</vt:lpstr>
      <vt:lpstr>Step 2:</vt:lpstr>
      <vt:lpstr>Step3- Set Up Redux in Your Application</vt:lpstr>
      <vt:lpstr>Step 4: Using Redux in Your Components</vt:lpstr>
      <vt:lpstr>Debugging React Apps-</vt:lpstr>
      <vt:lpstr>PowerPoint Presentation</vt:lpstr>
      <vt:lpstr>PowerPoint Presentation</vt:lpstr>
      <vt:lpstr>Building the App</vt:lpstr>
      <vt:lpstr>Best Practices for Deployment</vt:lpstr>
      <vt:lpstr>Best Practices for Deployment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HOOKS</dc:title>
  <dc:creator>ashishkumar</dc:creator>
  <cp:lastModifiedBy>User</cp:lastModifiedBy>
  <cp:revision>46</cp:revision>
  <dcterms:created xsi:type="dcterms:W3CDTF">2024-09-16T04:12:16Z</dcterms:created>
  <dcterms:modified xsi:type="dcterms:W3CDTF">2024-11-11T09:10:28Z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1033-5.7.3.8096</vt:lpwstr>
  </property>
</Properties>
</file>